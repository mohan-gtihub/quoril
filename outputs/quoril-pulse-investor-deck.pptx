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e73abdd6c24683" /><Relationship Type="http://schemas.openxmlformats.org/officeDocument/2006/relationships/extended-properties" Target="/docProps/app.xml" Id="R893828c8d04a4e1c" /><Relationship Type="http://schemas.openxmlformats.org/officeDocument/2006/relationships/officeDocument" Target="/ppt/presentation.xml" Id="Rc765603715e449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4ae506978f4209"/>
  </p:sldMasterIdLst>
  <p:notesMasterIdLst>
    <p:notesMasterId xmlns:r="http://schemas.openxmlformats.org/officeDocument/2006/relationships" r:id="R962ce14631824102"/>
  </p:notesMasterIdLst>
  <p:sldIdLst>
    <p:sldId xmlns:r="http://schemas.openxmlformats.org/officeDocument/2006/relationships" id="256" r:id="Rcbffbbbcc32b4394"/>
    <p:sldId xmlns:r="http://schemas.openxmlformats.org/officeDocument/2006/relationships" id="257" r:id="R9edc61903fcc4960"/>
    <p:sldId xmlns:r="http://schemas.openxmlformats.org/officeDocument/2006/relationships" id="258" r:id="Rfac4075165b44018"/>
    <p:sldId xmlns:r="http://schemas.openxmlformats.org/officeDocument/2006/relationships" id="259" r:id="R028c502416c44d50"/>
    <p:sldId xmlns:r="http://schemas.openxmlformats.org/officeDocument/2006/relationships" id="260" r:id="R120b67e0b44348f3"/>
    <p:sldId xmlns:r="http://schemas.openxmlformats.org/officeDocument/2006/relationships" id="261" r:id="R7489f1bef3684289"/>
    <p:sldId xmlns:r="http://schemas.openxmlformats.org/officeDocument/2006/relationships" id="262" r:id="Rd76d644d2bb44185"/>
    <p:sldId xmlns:r="http://schemas.openxmlformats.org/officeDocument/2006/relationships" id="263" r:id="R97d41ec784de46ee"/>
    <p:sldId xmlns:r="http://schemas.openxmlformats.org/officeDocument/2006/relationships" id="264" r:id="R8739aeca02d343c6"/>
    <p:sldId xmlns:r="http://schemas.openxmlformats.org/officeDocument/2006/relationships" id="265" r:id="R863acc5ee1d44bf6"/>
    <p:sldId xmlns:r="http://schemas.openxmlformats.org/officeDocument/2006/relationships" id="266" r:id="Rcdc0d10bca984818"/>
    <p:sldId xmlns:r="http://schemas.openxmlformats.org/officeDocument/2006/relationships" id="267" r:id="Rd3aaf7f27fa648e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d99d9504f347a4" /><Relationship Type="http://schemas.openxmlformats.org/officeDocument/2006/relationships/slideMaster" Target="/ppt/slideMasters/slideMaster1.xml" Id="R864ae506978f4209" /><Relationship Type="http://schemas.openxmlformats.org/officeDocument/2006/relationships/notesMaster" Target="/ppt/notesMasters/notesMaster1.xml" Id="R962ce14631824102" /><Relationship Type="http://schemas.openxmlformats.org/officeDocument/2006/relationships/presProps" Target="/ppt/presProps.xml" Id="Rdbdcb7c7066e48ee" /><Relationship Type="http://schemas.openxmlformats.org/officeDocument/2006/relationships/tableStyles" Target="/ppt/tableStyles.xml" Id="Rf65ef0682b874d3b" /><Relationship Type="http://schemas.openxmlformats.org/officeDocument/2006/relationships/slide" Target="/ppt/slides/slide1.xml" Id="Rcbffbbbcc32b4394" /><Relationship Type="http://schemas.openxmlformats.org/officeDocument/2006/relationships/slide" Target="/ppt/slides/slide2.xml" Id="R9edc61903fcc4960" /><Relationship Type="http://schemas.openxmlformats.org/officeDocument/2006/relationships/slide" Target="/ppt/slides/slide3.xml" Id="Rfac4075165b44018" /><Relationship Type="http://schemas.openxmlformats.org/officeDocument/2006/relationships/slide" Target="/ppt/slides/slide4.xml" Id="R028c502416c44d50" /><Relationship Type="http://schemas.openxmlformats.org/officeDocument/2006/relationships/slide" Target="/ppt/slides/slide5.xml" Id="R120b67e0b44348f3" /><Relationship Type="http://schemas.openxmlformats.org/officeDocument/2006/relationships/slide" Target="/ppt/slides/slide6.xml" Id="R7489f1bef3684289" /><Relationship Type="http://schemas.openxmlformats.org/officeDocument/2006/relationships/slide" Target="/ppt/slides/slide7.xml" Id="Rd76d644d2bb44185" /><Relationship Type="http://schemas.openxmlformats.org/officeDocument/2006/relationships/slide" Target="/ppt/slides/slide8.xml" Id="R97d41ec784de46ee" /><Relationship Type="http://schemas.openxmlformats.org/officeDocument/2006/relationships/slide" Target="/ppt/slides/slide9.xml" Id="R8739aeca02d343c6" /><Relationship Type="http://schemas.openxmlformats.org/officeDocument/2006/relationships/slide" Target="/ppt/slides/slide10.xml" Id="R863acc5ee1d44bf6" /><Relationship Type="http://schemas.openxmlformats.org/officeDocument/2006/relationships/slide" Target="/ppt/slides/slide11.xml" Id="Rcdc0d10bca984818" /><Relationship Type="http://schemas.openxmlformats.org/officeDocument/2006/relationships/slide" Target="/ppt/slides/slide12.xml" Id="Rd3aaf7f27fa648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cc399e0b9a47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114300" dir="5400000">
              <a:srgbClr val="000000">
                <a:alpha val="2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85e2267d5f4851" /><Relationship Type="http://schemas.openxmlformats.org/officeDocument/2006/relationships/notesMaster" Target="/ppt/notesMasters/notesMaster1.xml" Id="Rc3d316dc0d7c47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77870439304a5a" /><Relationship Type="http://schemas.openxmlformats.org/officeDocument/2006/relationships/notesMaster" Target="/ppt/notesMasters/notesMaster1.xml" Id="Red6408a9d6144c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aaa2dda37748d5" /><Relationship Type="http://schemas.openxmlformats.org/officeDocument/2006/relationships/notesMaster" Target="/ppt/notesMasters/notesMaster1.xml" Id="Rf06204364e5c42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fd73ba708244e6" /><Relationship Type="http://schemas.openxmlformats.org/officeDocument/2006/relationships/notesMaster" Target="/ppt/notesMasters/notesMaster1.xml" Id="R28f16e79ba1442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a7c5590e2b49ad" /><Relationship Type="http://schemas.openxmlformats.org/officeDocument/2006/relationships/notesMaster" Target="/ppt/notesMasters/notesMaster1.xml" Id="R49e09150555640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a8969ea7fc4ec0" /><Relationship Type="http://schemas.openxmlformats.org/officeDocument/2006/relationships/notesMaster" Target="/ppt/notesMasters/notesMaster1.xml" Id="R84cc4710265640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f8427030464f67" /><Relationship Type="http://schemas.openxmlformats.org/officeDocument/2006/relationships/notesMaster" Target="/ppt/notesMasters/notesMaster1.xml" Id="R2f6a8b670b2f4f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9982c811b04529" /><Relationship Type="http://schemas.openxmlformats.org/officeDocument/2006/relationships/notesMaster" Target="/ppt/notesMasters/notesMaster1.xml" Id="R57639c4678bc4e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f915e171b4434a" /><Relationship Type="http://schemas.openxmlformats.org/officeDocument/2006/relationships/notesMaster" Target="/ppt/notesMasters/notesMaster1.xml" Id="R6a83ec9c41304c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858e0d93a54ddf" /><Relationship Type="http://schemas.openxmlformats.org/officeDocument/2006/relationships/notesMaster" Target="/ppt/notesMasters/notesMaster1.xml" Id="R07f8923ab35241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b770f3d0dc4e97" /><Relationship Type="http://schemas.openxmlformats.org/officeDocument/2006/relationships/notesMaster" Target="/ppt/notesMasters/notesMaster1.xml" Id="Rfdc6aff8e20f47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05675570b04194" /><Relationship Type="http://schemas.openxmlformats.org/officeDocument/2006/relationships/notesMaster" Target="/ppt/notesMasters/notesMaster1.xml" Id="R867a4eeefb3e45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Animation cue: fade in title first, then three chips, then product mock on the right.</a:t>
            </a:r>
          </a:p>
          <a:p xmlns:a="http://schemas.openxmlformats.org/drawingml/2006/main">
            <a:r>
              <a:t>Opening line: Quoril started as a personal deep-work command center. Pulse turns that loop into an operating layer for teams.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Animation cue: reveal the three problem cards one by one, then the Pulse statement.</a:t>
            </a:r>
          </a:p>
          <a:p xmlns:a="http://schemas.openxmlformats.org/drawingml/2006/main">
            <a:r>
              <a:t>Do not position this as another task manager. Position it as an operating truth layer.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Animation cue: use Morph from an empty center to the five-loop diagram, or reveal each node clockwise.</a:t>
            </a:r>
          </a:p>
          <a:p xmlns:a="http://schemas.openxmlformats.org/drawingml/2006/main">
            <a:r>
              <a:t>This slide is the core thesis: Quoril is not a point tool; it is the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Animation cue: wipe in the canvas links first, then pop the nodes, then reveal the three right-side value points.</a:t>
            </a:r>
          </a:p>
          <a:p xmlns:a="http://schemas.openxmlformats.org/drawingml/2006/main">
            <a:r>
              <a:t>Emphasize that canvas is not a side feature; it is the planning surface for complex team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Animation cue: reveal hierarchy from Individual upward to Executive, then bring in the metric strip.</a:t>
            </a:r>
          </a:p>
          <a:p xmlns:a="http://schemas.openxmlformats.org/drawingml/2006/main">
            <a:r>
              <a:t>This is where Quoril Pulse becomes materially different from personal productivity tools.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Animation cue: first show chat, then reveal action cards in this order: Ask status, Assign work, Read meetings, Explain the org.</a:t>
            </a:r>
          </a:p>
          <a:p xmlns:a="http://schemas.openxmlformats.org/drawingml/2006/main">
            <a:r>
              <a:t>Important framing: Pulse AI is not a chatbot bolted onto Quoril. It is the interface to the productivity 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Animation cue: reveal report metrics first, then chart, then AI recommendation strip.</a:t>
            </a:r>
          </a:p>
          <a:p xmlns:a="http://schemas.openxmlformats.org/drawingml/2006/main">
            <a:r>
              <a:t>Call out Generate Insights as the bridge between analytics and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Animation cue: reveal competitor rows first, then the Quoril Pulse row as the payoff.</a:t>
            </a:r>
          </a:p>
          <a:p xmlns:a="http://schemas.openxmlformats.org/drawingml/2006/main">
            <a:r>
              <a:t>Avoid attacking specific competitors. The point is category fragmentation.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Animation cue: reveal V1, then V2, then V3. Use emphasis on V2 / Quoril Pulse.</a:t>
            </a:r>
          </a:p>
          <a:p xmlns:a="http://schemas.openxmlformats.org/drawingml/2006/main">
            <a:r>
              <a:t>Correct wording: tokenised platform, not crypto-first product. The reward layer is a gamification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Animation cue: reveal Teams, Managers, Leadership, then the final one-line wedge.</a:t>
            </a:r>
          </a:p>
          <a:p xmlns:a="http://schemas.openxmlformats.org/drawingml/2006/main">
            <a:r>
              <a:t>This slide is the business pivot: personal daily habit becomes organization software.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Animation cue: reveal channels in priority order: Reddit, X, Product Hunt, LinkedIn/outreach.</a:t>
            </a:r>
          </a:p>
          <a:p xmlns:a="http://schemas.openxmlformats.org/drawingml/2006/main">
            <a:r>
              <a:t>Tone: premium and global, product-led, no ad budget required for first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Animation cue: fade brand mark, then headline, then each roadmap card.</a:t>
            </a:r>
          </a:p>
          <a:p xmlns:a="http://schemas.openxmlformats.org/drawingml/2006/main">
            <a:r>
              <a:t>Closing line: Quoril Pulse makes work queryable, assignable, and improvable.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8ccf56305341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2787f7b32849e7" /><Relationship Type="http://schemas.openxmlformats.org/officeDocument/2006/relationships/slideLayout" Target="/ppt/slideLayouts/slideLayout1.xml" Id="R95d0ea6f54c248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d0ea6f54c248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114300" dir="5400000">
              <a:srgbClr val="000000">
                <a:alpha val="2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a5faf0be14ede" /><Relationship Type="http://schemas.openxmlformats.org/officeDocument/2006/relationships/image" Target="/ppt/media/image.png" Id="Rd676aad0bef045a2" /><Relationship Type="http://schemas.openxmlformats.org/officeDocument/2006/relationships/notesSlide" Target="/ppt/notesSlides/notesSlide1.xml" Id="Rf449551848aa43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c9f00697147b0" /><Relationship Type="http://schemas.openxmlformats.org/officeDocument/2006/relationships/notesSlide" Target="/ppt/notesSlides/notesSlide2.xml" Id="Rdf8fb716c73646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85da16e8f430e" /><Relationship Type="http://schemas.openxmlformats.org/officeDocument/2006/relationships/notesSlide" Target="/ppt/notesSlides/notesSlide3.xml" Id="Rfbf893e19b9d4e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33609ed3f4d47" /><Relationship Type="http://schemas.openxmlformats.org/officeDocument/2006/relationships/notesSlide" Target="/ppt/notesSlides/notesSlide4.xml" Id="R8b816fffb7fe46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927a632a54424" /><Relationship Type="http://schemas.openxmlformats.org/officeDocument/2006/relationships/notesSlide" Target="/ppt/notesSlides/notesSlide5.xml" Id="Rf75c7139603145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24930176249a9" /><Relationship Type="http://schemas.openxmlformats.org/officeDocument/2006/relationships/notesSlide" Target="/ppt/notesSlides/notesSlide6.xml" Id="R94c235f7222c4e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a7260bc834c6c" /><Relationship Type="http://schemas.openxmlformats.org/officeDocument/2006/relationships/chart" Target="/ppt/slides/charts/chart1.xml" Id="R931e5e64a6294c03" /><Relationship Type="http://schemas.openxmlformats.org/officeDocument/2006/relationships/notesSlide" Target="/ppt/notesSlides/notesSlide7.xml" Id="Rc68c4c12311745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1ca682a8f49a5" /><Relationship Type="http://schemas.openxmlformats.org/officeDocument/2006/relationships/notesSlide" Target="/ppt/notesSlides/notesSlide8.xml" Id="R7282d26ecfc64f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89d776f184c20" /><Relationship Type="http://schemas.openxmlformats.org/officeDocument/2006/relationships/notesSlide" Target="/ppt/notesSlides/notesSlide9.xml" Id="R87a4facbb2fb4a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fe184963c49fe" /><Relationship Type="http://schemas.openxmlformats.org/officeDocument/2006/relationships/notesSlide" Target="/ppt/notesSlides/notesSlide10.xml" Id="R67c54733a83444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9ca5ea53e402d" /><Relationship Type="http://schemas.openxmlformats.org/officeDocument/2006/relationships/notesSlide" Target="/ppt/notesSlides/notesSlide11.xml" Id="R8cb91578504e46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b757dd78b4dfa" /><Relationship Type="http://schemas.openxmlformats.org/officeDocument/2006/relationships/image" Target="/ppt/media/image2.png" Id="R0bdc3fd500b548a9" /><Relationship Type="http://schemas.openxmlformats.org/officeDocument/2006/relationships/notesSlide" Target="/ppt/notesSlides/notesSlide12.xml" Id="Ra4ec49fb2b8340da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Signal</c:v>
          </c:tx>
          <c:spPr>
            <a:solidFill xmlns:a="http://schemas.openxmlformats.org/drawingml/2006/main">
              <a:srgbClr val="C4F82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Deep</c:v>
              </c:pt>
              <c:pt idx="1">
                <c:v>Focus</c:v>
              </c:pt>
              <c:pt idx="2">
                <c:v>Tasks</c:v>
              </c:pt>
              <c:pt idx="3">
                <c:v>Noise</c:v>
              </c:pt>
            </c:strLit>
          </c:cat>
          <c:val>
            <c:numLit>
              <c:formatCode>General</c:formatCode>
              <c:ptCount val="4"/>
              <c:pt idx="0">
                <c:v>82</c:v>
              </c:pt>
              <c:pt idx="1">
                <c:v>76</c:v>
              </c:pt>
              <c:pt idx="2">
                <c:v>64</c:v>
              </c:pt>
              <c:pt idx="3">
                <c:v>18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</c:spPr>
    </c:plotArea>
    <c:plotVisOnly val="1"/>
  </c:chart>
  <c:spPr>
    <a:solidFill xmlns:a="http://schemas.openxmlformats.org/drawingml/2006/main">
      <a:srgbClr val="000000">
        <a:alpha val="0"/>
      </a:srgbClr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F04B69-4F55-44FC-BA27-605F60E4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2000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82A">
              <a:alpha val="549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09D07-262F-450E-81E6-C3F05279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81250" y="4095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>
              <a:alpha val="3922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6aad0bef045a2"/>
          <a:stretch xmlns:a="http://schemas.openxmlformats.org/drawingml/2006/main"/>
        </p:blipFill>
        <p:spPr>
          <a:xfrm xmlns:a="http://schemas.openxmlformats.org/drawingml/2006/main">
            <a:off x="685800" y="5524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896CD-8B22-4DB3-B9D4-42F3A281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86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Quoril.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4A9F0-5230-4673-804C-62E9F6C3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F8FAFC"/>
                </a:solidFill>
              </a:defRPr>
            </a:pPr>
            <a:r>
              <a:rPr sz="4650" b="1">
                <a:solidFill>
                  <a:srgbClr val="F8FAFC"/>
                </a:solidFill>
              </a:rPr>
              <a:t>Quoril Pulse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39B9E-D2F2-433E-A69B-75D0554C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685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100" b="0">
                <a:solidFill>
                  <a:srgbClr val="9AA4B2"/>
                </a:solidFill>
              </a:defRPr>
            </a:pPr>
            <a:r>
              <a:rPr sz="2100" b="0">
                <a:solidFill>
                  <a:srgbClr val="9AA4B2"/>
                </a:solidFill>
              </a:rPr>
              <a:t>The operating layer for focused organizations.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AAEE6-530B-481F-A991-D8179811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Plan work. Execute with focus. Ask AI what is happening across the org.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96146-5A06-4E0E-973C-010EC4A8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123950"/>
            <a:ext cx="3905250" cy="302895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0A0E13"/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DFE97-8658-4B4D-8253-2C043B2F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276350"/>
            <a:ext cx="8524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1">
                <a:solidFill>
                  <a:srgbClr val="9AA4B2"/>
                </a:solidFill>
              </a:defRPr>
            </a:pPr>
            <a:r>
              <a:rPr sz="825" b="1">
                <a:solidFill>
                  <a:srgbClr val="9AA4B2"/>
                </a:solidFill>
              </a:rPr>
              <a:t>Backlog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1F836-BD41-4754-833A-419B7FB1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24000"/>
            <a:ext cx="852488" cy="2438400"/>
          </a:xfrm>
          <a:prstGeom xmlns:a="http://schemas.openxmlformats.org/drawingml/2006/main" prst="roundRect">
            <a:avLst>
              <a:gd name="adj" fmla="val 13408"/>
            </a:avLst>
          </a:prstGeom>
          <a:solidFill xmlns:a="http://schemas.openxmlformats.org/drawingml/2006/main">
            <a:srgbClr val="101720"/>
          </a:solidFill>
          <a:ln xmlns:a="http://schemas.openxmlformats.org/drawingml/2006/main" w="9525">
            <a:solidFill>
              <a:srgbClr val="FFFFFF">
                <a:alpha val="8627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EA1F4-CD3C-4BC6-A646-C104DD66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76400"/>
            <a:ext cx="661988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92331"/>
          </a:solidFill>
          <a:ln xmlns:a="http://schemas.openxmlformats.org/drawingml/2006/main" w="9525">
            <a:solidFill>
              <a:srgbClr val="2E3A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9DCBF-490C-4966-AA94-BA1BF711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28850"/>
            <a:ext cx="661988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92331"/>
          </a:solidFill>
          <a:ln xmlns:a="http://schemas.openxmlformats.org/drawingml/2006/main" w="9525">
            <a:solidFill>
              <a:srgbClr val="2E3A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2B3DA5-90AE-4CA7-B294-249287BD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81300"/>
            <a:ext cx="661988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92331"/>
          </a:solidFill>
          <a:ln xmlns:a="http://schemas.openxmlformats.org/drawingml/2006/main" w="9525">
            <a:solidFill>
              <a:srgbClr val="2E3A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4F2DF5-857D-4E81-9D53-09809245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113" y="1276350"/>
            <a:ext cx="8524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1">
                <a:solidFill>
                  <a:srgbClr val="9AA4B2"/>
                </a:solidFill>
              </a:defRPr>
            </a:pPr>
            <a:r>
              <a:rPr sz="825" b="1">
                <a:solidFill>
                  <a:srgbClr val="9AA4B2"/>
                </a:solidFill>
              </a:rPr>
              <a:t>This Week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3CB36B-A698-47CA-9DF5-06CDBABE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113" y="1524000"/>
            <a:ext cx="852488" cy="2438400"/>
          </a:xfrm>
          <a:prstGeom xmlns:a="http://schemas.openxmlformats.org/drawingml/2006/main" prst="roundRect">
            <a:avLst>
              <a:gd name="adj" fmla="val 13408"/>
            </a:avLst>
          </a:prstGeom>
          <a:solidFill xmlns:a="http://schemas.openxmlformats.org/drawingml/2006/main">
            <a:srgbClr val="101720"/>
          </a:solidFill>
          <a:ln xmlns:a="http://schemas.openxmlformats.org/drawingml/2006/main" w="9525">
            <a:solidFill>
              <a:srgbClr val="FFFFFF">
                <a:alpha val="8627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3D7C0-94EF-47FE-9CA8-350570DC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363" y="1676400"/>
            <a:ext cx="661988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92331"/>
          </a:solidFill>
          <a:ln xmlns:a="http://schemas.openxmlformats.org/drawingml/2006/main" w="9525">
            <a:solidFill>
              <a:srgbClr val="2E3A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0B892D-B620-4F87-BE09-82287F99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363" y="2228850"/>
            <a:ext cx="661988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92331"/>
          </a:solidFill>
          <a:ln xmlns:a="http://schemas.openxmlformats.org/drawingml/2006/main" w="9525">
            <a:solidFill>
              <a:srgbClr val="2E3A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C53AA2-E3F7-4355-AAC7-0BD1D083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363" y="2781300"/>
            <a:ext cx="661988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92331"/>
          </a:solidFill>
          <a:ln xmlns:a="http://schemas.openxmlformats.org/drawingml/2006/main" w="9525">
            <a:solidFill>
              <a:srgbClr val="2E3A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5C78C2-7B2F-4FBE-BD6A-3B3AEBF3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276350"/>
            <a:ext cx="8524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1">
                <a:solidFill>
                  <a:srgbClr val="C4F82A"/>
                </a:solidFill>
              </a:defRPr>
            </a:pPr>
            <a:r>
              <a:rPr sz="825" b="1">
                <a:solidFill>
                  <a:srgbClr val="C4F82A"/>
                </a:solidFill>
              </a:rPr>
              <a:t>Today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BE83C5-569F-47EF-B2CA-2113CD1A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524000"/>
            <a:ext cx="852488" cy="2438400"/>
          </a:xfrm>
          <a:prstGeom xmlns:a="http://schemas.openxmlformats.org/drawingml/2006/main" prst="roundRect">
            <a:avLst>
              <a:gd name="adj" fmla="val 13408"/>
            </a:avLst>
          </a:prstGeom>
          <a:solidFill xmlns:a="http://schemas.openxmlformats.org/drawingml/2006/main">
            <a:srgbClr val="101720"/>
          </a:solidFill>
          <a:ln xmlns:a="http://schemas.openxmlformats.org/drawingml/2006/main" w="9525">
            <a:solidFill>
              <a:srgbClr val="FFFFFF">
                <a:alpha val="8627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D81B76-952B-4B5E-AE86-6CDFF552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676400"/>
            <a:ext cx="661988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92331"/>
          </a:solidFill>
          <a:ln xmlns:a="http://schemas.openxmlformats.org/drawingml/2006/main" w="9525">
            <a:solidFill>
              <a:srgbClr val="2E3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3355AC-01DB-4FC1-8C3B-A486DAF1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228850"/>
            <a:ext cx="661988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C4F82A">
              <a:alpha val="13333"/>
            </a:srgbClr>
          </a:solidFill>
          <a:ln xmlns:a="http://schemas.openxmlformats.org/drawingml/2006/main" w="9525">
            <a:solidFill>
              <a:srgbClr val="C4F8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CF0FBA-EC3E-4AB0-80BB-4D69CE21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781300"/>
            <a:ext cx="661988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92331"/>
          </a:solidFill>
          <a:ln xmlns:a="http://schemas.openxmlformats.org/drawingml/2006/main" w="9525">
            <a:solidFill>
              <a:srgbClr val="2E3A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4126F9-73E3-4A53-A5AA-85325196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8438" y="1276350"/>
            <a:ext cx="8524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1">
                <a:solidFill>
                  <a:srgbClr val="9AA4B2"/>
                </a:solidFill>
              </a:defRPr>
            </a:pPr>
            <a:r>
              <a:rPr sz="825" b="1">
                <a:solidFill>
                  <a:srgbClr val="9AA4B2"/>
                </a:solidFill>
              </a:rPr>
              <a:t>Done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8506E5-72C4-483C-8BF9-C37C0A22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8438" y="1524000"/>
            <a:ext cx="852488" cy="2438400"/>
          </a:xfrm>
          <a:prstGeom xmlns:a="http://schemas.openxmlformats.org/drawingml/2006/main" prst="roundRect">
            <a:avLst>
              <a:gd name="adj" fmla="val 13408"/>
            </a:avLst>
          </a:prstGeom>
          <a:solidFill xmlns:a="http://schemas.openxmlformats.org/drawingml/2006/main">
            <a:srgbClr val="101720"/>
          </a:solidFill>
          <a:ln xmlns:a="http://schemas.openxmlformats.org/drawingml/2006/main" w="9525">
            <a:solidFill>
              <a:srgbClr val="FFFFFF">
                <a:alpha val="8627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530B4F-9610-43E9-94A5-85292263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688" y="1676400"/>
            <a:ext cx="661988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92331"/>
          </a:solidFill>
          <a:ln xmlns:a="http://schemas.openxmlformats.org/drawingml/2006/main" w="9525">
            <a:solidFill>
              <a:srgbClr val="2E3A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9CFD68-B8F5-41CD-BC7A-C8FBD763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688" y="2228850"/>
            <a:ext cx="661988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92331"/>
          </a:solidFill>
          <a:ln xmlns:a="http://schemas.openxmlformats.org/drawingml/2006/main" w="9525">
            <a:solidFill>
              <a:srgbClr val="2E3A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C7FCA2-0C08-4EBD-95E7-D5CBD842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688" y="2781300"/>
            <a:ext cx="661988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92331"/>
          </a:solidFill>
          <a:ln xmlns:a="http://schemas.openxmlformats.org/drawingml/2006/main" w="9525">
            <a:solidFill>
              <a:srgbClr val="2E3A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F6EDE6-0FD8-4555-B2E1-7C2E4B9F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38650"/>
            <a:ext cx="3905250" cy="1352550"/>
          </a:xfrm>
          <a:prstGeom xmlns:a="http://schemas.openxmlformats.org/drawingml/2006/main" prst="roundRect">
            <a:avLst>
              <a:gd name="adj" fmla="val 15493"/>
            </a:avLst>
          </a:prstGeom>
          <a:solidFill xmlns:a="http://schemas.openxmlformats.org/drawingml/2006/main">
            <a:srgbClr val="0A0D12"/>
          </a:solidFill>
          <a:ln xmlns:a="http://schemas.openxmlformats.org/drawingml/2006/main" w="9525">
            <a:solidFill>
              <a:srgbClr val="C4F82A">
                <a:alpha val="2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719C43-0B1E-4D38-B0A0-195CB891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29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C4F82A"/>
                </a:solidFill>
              </a:defRPr>
            </a:pPr>
            <a:r>
              <a:rPr sz="1500" b="1">
                <a:solidFill>
                  <a:srgbClr val="C4F82A"/>
                </a:solidFill>
              </a:rPr>
              <a:t>Pulse AI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9F57C9-B6B0-47F8-BA2F-4EFE9B8D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48200"/>
            <a:ext cx="13525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9412"/>
            </a:srgbClr>
          </a:solidFill>
          <a:ln xmlns:a="http://schemas.openxmlformats.org/drawingml/2006/main" w="9525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73FD6A-211B-4586-ABD5-2C2CE551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14875"/>
            <a:ext cx="1123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22D3EE"/>
                </a:solidFill>
              </a:defRPr>
            </a:pPr>
            <a:r>
              <a:rPr sz="825" b="1">
                <a:solidFill>
                  <a:srgbClr val="22D3EE"/>
                </a:solidFill>
              </a:rPr>
              <a:t>LIVE ORG CONTEXT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08C59E-9374-4FBE-BCD8-48796DFE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10150"/>
            <a:ext cx="2476500" cy="342900"/>
          </a:xfrm>
          <a:prstGeom xmlns:a="http://schemas.openxmlformats.org/drawingml/2006/main" prst="roundRect">
            <a:avLst>
              <a:gd name="adj" fmla="val 38889"/>
            </a:avLst>
          </a:prstGeom>
          <a:solidFill xmlns:a="http://schemas.openxmlformats.org/drawingml/2006/main">
            <a:srgbClr val="161D27"/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830E14-AA86-455D-A66C-D6550675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054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>
                <a:solidFill>
                  <a:srgbClr val="F8FAFC"/>
                </a:solidFill>
              </a:defRPr>
            </a:pPr>
            <a:r>
              <a:rPr sz="900" b="0">
                <a:solidFill>
                  <a:srgbClr val="F8FAFC"/>
                </a:solidFill>
              </a:rPr>
              <a:t>Ask: what is blocked in engineering?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E8BC98-68DB-4F9A-B1CC-009C3474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429250"/>
            <a:ext cx="29908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C4F82A">
              <a:alpha val="12549"/>
            </a:srgbClr>
          </a:solidFill>
          <a:ln xmlns:a="http://schemas.openxmlformats.org/drawingml/2006/main" w="9525">
            <a:solidFill>
              <a:srgbClr val="C4F82A">
                <a:alpha val="26667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90D535-83A2-48D4-92A5-4871F170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524500"/>
            <a:ext cx="2686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4F82A"/>
                </a:solidFill>
              </a:defRPr>
            </a:pPr>
            <a:r>
              <a:rPr sz="900" b="1">
                <a:solidFill>
                  <a:srgbClr val="C4F82A"/>
                </a:solidFill>
              </a:rPr>
              <a:t>3 blocked. 1 unassigned. Launch handoff is late.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857429-B582-4874-94AC-166324E8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228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F82A">
              <a:alpha val="9412"/>
            </a:srgbClr>
          </a:solidFill>
          <a:ln xmlns:a="http://schemas.openxmlformats.org/drawingml/2006/main" w="9525">
            <a:solidFill>
              <a:srgbClr val="C4F82A">
                <a:alpha val="40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B594F8-4B2F-4268-8F3C-4A64C32F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52925"/>
            <a:ext cx="2057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C4F82A"/>
                </a:solidFill>
              </a:defRPr>
            </a:pPr>
            <a:r>
              <a:rPr sz="825" b="1">
                <a:solidFill>
                  <a:srgbClr val="C4F82A"/>
                </a:solidFill>
              </a:rPr>
              <a:t>ORG-LEVEL PRODUCTIVITY OS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C02985-8F86-4C99-8A49-99B81329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2190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9412"/>
            </a:srgbClr>
          </a:solidFill>
          <a:ln xmlns:a="http://schemas.openxmlformats.org/drawingml/2006/main" w="9525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FE23C2-AF72-47CE-B649-96A594E0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352925"/>
            <a:ext cx="1962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22D3EE"/>
                </a:solidFill>
              </a:defRPr>
            </a:pPr>
            <a:r>
              <a:rPr sz="825" b="1">
                <a:solidFill>
                  <a:srgbClr val="22D3EE"/>
                </a:solidFill>
              </a:rPr>
              <a:t>CANVAS + COLLABORATION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28D4D5-F3FC-49D9-853E-587C9CB8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286250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>
              <a:alpha val="9412"/>
            </a:srgbClr>
          </a:solidFill>
          <a:ln xmlns:a="http://schemas.openxmlformats.org/drawingml/2006/main" w="9525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2897DC-9865-4E41-8508-A4AFBB16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352925"/>
            <a:ext cx="914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8B5CF6"/>
                </a:solidFill>
              </a:defRPr>
            </a:pPr>
            <a:r>
              <a:rPr sz="825" b="1">
                <a:solidFill>
                  <a:srgbClr val="8B5CF6"/>
                </a:solidFill>
              </a:rPr>
              <a:t>PULSE AI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32BF08-6709-471E-A665-20E7B83E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Investor / product narrative deck</a:t>
            </a:r>
          </a:p>
        </p:txBody>
      </p:sp>
    </p:spTree>
    <p:extLst>
      <p:ext uri="{BB962C8B-B14F-4D97-AF65-F5344CB8AC3E}">
        <p14:creationId xmlns:p14="http://schemas.microsoft.com/office/powerpoint/2010/main" val="16957093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F1BCB8-A2CC-4589-8219-258CA610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2000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82A">
              <a:alpha val="549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D0FC7-55A8-4770-8C97-D563E6BD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81250" y="4095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>
              <a:alpha val="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C2757-D840-48CD-9E2E-7E1648D8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F82A">
              <a:alpha val="9412"/>
            </a:srgbClr>
          </a:solidFill>
          <a:ln xmlns:a="http://schemas.openxmlformats.org/drawingml/2006/main" w="9525">
            <a:solidFill>
              <a:srgbClr val="C4F82A">
                <a:alpha val="3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430C0-A942-4C6C-A726-04F198DF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312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4F82A"/>
                </a:solidFill>
              </a:defRPr>
            </a:pPr>
            <a:r>
              <a:rPr sz="825" b="1">
                <a:solidFill>
                  <a:srgbClr val="C4F82A"/>
                </a:solidFill>
              </a:rPr>
              <a:t>QUORIL PULSE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F5C76-0FAB-473A-ACFD-67122E1C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Teams do not lack tools. They lack live operating truth.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2909D-7DF1-4284-8C45-57C4A925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9AA4B2"/>
                </a:solidFill>
              </a:defRPr>
            </a:pPr>
            <a:r>
              <a:rPr sz="1500" b="0">
                <a:solidFill>
                  <a:srgbClr val="9AA4B2"/>
                </a:solidFill>
              </a:rPr>
              <a:t>Work is planned in one app, discussed in meetings, tracked in another, and summarized manually for leadership.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68717-3632-4630-B29F-C439734C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9A9F7-B938-42FF-992B-1B559863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Quoril Pulse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637B5-F5A6-41FE-95E6-318C0C51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F1090-CEAA-4388-96D8-CD22ECF6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31813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2A34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85B3C-A9FE-49AC-BCB3-E116C8BC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473D3-B248-4BC9-B947-98482BC6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719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Fragmented execution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98BFC-1C14-41D4-889F-B864B0CB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9AA4B2"/>
                </a:solidFill>
              </a:defRPr>
            </a:pPr>
            <a:r>
              <a:rPr sz="1200" b="0">
                <a:solidFill>
                  <a:srgbClr val="9AA4B2"/>
                </a:solidFill>
              </a:rPr>
              <a:t>Tasks, docs, meetings, time data, and reports live in separate systems.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E3E24-BBCE-4E87-B12C-1DFE4AE5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31813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C4F82A">
                <a:alpha val="4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178B4-9BB5-48D3-A366-B081D597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71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C4F82A"/>
                </a:solidFill>
              </a:defRPr>
            </a:pPr>
            <a:r>
              <a:rPr sz="1650" b="1">
                <a:solidFill>
                  <a:srgbClr val="C4F82A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CF6B8-D933-4E4E-96AF-8CDBCB39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719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No real-time hierarchy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25DE7-C6EE-4BD2-A5AD-1ED8B79C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100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9AA4B2"/>
                </a:solidFill>
              </a:defRPr>
            </a:pPr>
            <a:r>
              <a:rPr sz="1200" b="0">
                <a:solidFill>
                  <a:srgbClr val="9AA4B2"/>
                </a:solidFill>
              </a:rPr>
              <a:t>Managers see status updates after the fact. Leaders cannot ask the org a direct question.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34EC31-0F85-4554-BE7E-CE71C0CF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43250"/>
            <a:ext cx="31813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2A34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04E495-922D-4908-AC75-6216F7EB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71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757AE-8212-4B8B-81F5-7E7F5051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719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Meetings do not become 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5A3874-1B21-42BE-9F27-32150A66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100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9AA4B2"/>
                </a:solidFill>
              </a:defRPr>
            </a:pPr>
            <a:r>
              <a:rPr sz="1200" b="0">
                <a:solidFill>
                  <a:srgbClr val="9AA4B2"/>
                </a:solidFill>
              </a:rPr>
              <a:t>Transcripts capture conversation, but ownership and task updates still depend on manual follow-through.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23DBD2-9F5C-4EB7-A864-D132935A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673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C4F82A"/>
                </a:solidFill>
              </a:defRPr>
            </a:pPr>
            <a:r>
              <a:rPr sz="1875" b="1">
                <a:solidFill>
                  <a:srgbClr val="C4F82A"/>
                </a:solidFill>
              </a:rPr>
              <a:t>Pulse is built for the moment between work happening and leadership knowing.</a:t>
            </a:r>
          </a:p>
        </p:txBody>
      </p:sp>
    </p:spTree>
    <p:extLst>
      <p:ext uri="{BB962C8B-B14F-4D97-AF65-F5344CB8AC3E}">
        <p14:creationId xmlns:p14="http://schemas.microsoft.com/office/powerpoint/2010/main" val="19715210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F19436-A5E6-4C89-9807-9317A114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2000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82A">
              <a:alpha val="549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880A3-A86A-44C6-B62C-6C6A13CE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81250" y="4095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>
              <a:alpha val="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B1814-0511-4E5F-9B1F-629A0884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F82A">
              <a:alpha val="9412"/>
            </a:srgbClr>
          </a:solidFill>
          <a:ln xmlns:a="http://schemas.openxmlformats.org/drawingml/2006/main" w="9525">
            <a:solidFill>
              <a:srgbClr val="C4F82A">
                <a:alpha val="3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30C66-7CE4-4900-B740-66E98C75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312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4F82A"/>
                </a:solidFill>
              </a:defRPr>
            </a:pPr>
            <a:r>
              <a:rPr sz="825" b="1">
                <a:solidFill>
                  <a:srgbClr val="C4F82A"/>
                </a:solidFill>
              </a:rPr>
              <a:t>QUORIL PULSE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1DB78-AB1F-4137-986D-ECE782CF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Quoril closes the productivity loop.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62617-210C-403F-B527-6DFD9BC0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9AA4B2"/>
                </a:solidFill>
              </a:defRPr>
            </a:pPr>
            <a:r>
              <a:rPr sz="1500" b="0">
                <a:solidFill>
                  <a:srgbClr val="9AA4B2"/>
                </a:solidFill>
              </a:rPr>
              <a:t>The personal product already connects planning, focus, tracking, reports, and insight. Pulse scales that loop to teams.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6B5FE-F6B2-47B7-A068-E8F309E6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6332E-2A8F-4B5E-97EE-66743835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Quoril Pulse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05B0B-1661-4C8F-9EAE-DB9615F8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186F4-6A86-4A07-8BFB-3D67A996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9240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0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E49C8-4570-4129-8934-7163D632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860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D3C09-ADA2-4568-8FA6-DDC4543B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4325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9AA4B2"/>
                </a:solidFill>
              </a:defRPr>
            </a:pPr>
            <a:r>
              <a:rPr sz="975" b="0">
                <a:solidFill>
                  <a:srgbClr val="9AA4B2"/>
                </a:solidFill>
              </a:rPr>
              <a:t>Kanban, lists, workspaces, canvas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81CF45-E337-4B62-997A-7E2DD788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2958" y="2911292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0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3D082-DD07-442E-BAA4-6C32E787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058" y="3273242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Execute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1B7C5E-4A2F-4D56-BDC6-FF7E6786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958" y="4130492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9AA4B2"/>
                </a:solidFill>
              </a:defRPr>
            </a:pPr>
            <a:r>
              <a:rPr sz="975" b="0">
                <a:solidFill>
                  <a:srgbClr val="9AA4B2"/>
                </a:solidFill>
              </a:rPr>
              <a:t>Focus engine, timers, task ownership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E771BA-47E8-4D02-BB8E-E03FCA20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106" y="4508683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0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BD4063-BEF2-4013-8B32-FC6F4249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206" y="4870633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Measure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F845D8-DCA7-4AD4-AF46-75947B69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106" y="5727883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9AA4B2"/>
                </a:solidFill>
              </a:defRPr>
            </a:pPr>
            <a:r>
              <a:rPr sz="975" b="0">
                <a:solidFill>
                  <a:srgbClr val="9AA4B2"/>
                </a:solidFill>
              </a:rPr>
              <a:t>App usage, focus sessions, completion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F48FAC-256F-433C-8431-F7C4BD36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994" y="4508683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0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916275-F996-403D-9913-321D0EB0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094" y="4870633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Understand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13C28E-A865-43A5-B272-986A907D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994" y="5727883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9AA4B2"/>
                </a:solidFill>
              </a:defRPr>
            </a:pPr>
            <a:r>
              <a:rPr sz="975" b="0">
                <a:solidFill>
                  <a:srgbClr val="9AA4B2"/>
                </a:solidFill>
              </a:rPr>
              <a:t>Reports, AI insights,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33EE3B-868D-4832-8765-FC2B9BFC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142" y="2911292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82A"/>
          </a:solidFill>
          <a:ln xmlns:a="http://schemas.openxmlformats.org/drawingml/2006/main" w="19050">
            <a:solidFill>
              <a:srgbClr val="C4F8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661E86-B971-45E7-97C5-99F33F60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242" y="3273242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6070A"/>
                </a:solidFill>
              </a:defRPr>
            </a:pPr>
            <a:r>
              <a:rPr sz="1350" b="1">
                <a:solidFill>
                  <a:srgbClr val="06070A"/>
                </a:solidFill>
              </a:rPr>
              <a:t>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681599-F821-44A9-8BC6-73BA30AC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142" y="4130492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9AA4B2"/>
                </a:solidFill>
              </a:defRPr>
            </a:pPr>
            <a:r>
              <a:rPr sz="975" b="0">
                <a:solidFill>
                  <a:srgbClr val="9AA4B2"/>
                </a:solidFill>
              </a:rPr>
              <a:t>Pulse AI assigns and updates work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BEA8B2-667F-4EB3-A3D7-8E3CCF03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19350"/>
            <a:ext cx="35433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82A">
              <a:alpha val="7059"/>
            </a:srgbClr>
          </a:solidFill>
          <a:ln xmlns:a="http://schemas.openxmlformats.org/drawingml/2006/main" w="19050">
            <a:solidFill>
              <a:srgbClr val="C4F82A">
                <a:alpha val="33333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6E2E18-863A-4CC7-9B8D-8DB0570D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194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550" b="1">
                <a:solidFill>
                  <a:srgbClr val="C4F82A"/>
                </a:solidFill>
              </a:defRPr>
            </a:pPr>
            <a:r>
              <a:rPr sz="2550" b="1">
                <a:solidFill>
                  <a:srgbClr val="C4F82A"/>
                </a:solidFill>
              </a:rPr>
              <a:t>Productivity Graph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123AFB-D3B0-44B9-83CD-9E6C15C2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76650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Every task, session, meeting, owner, and signal becomes queryable.</a:t>
            </a:r>
          </a:p>
        </p:txBody>
      </p:sp>
    </p:spTree>
    <p:extLst>
      <p:ext uri="{BB962C8B-B14F-4D97-AF65-F5344CB8AC3E}">
        <p14:creationId xmlns:p14="http://schemas.microsoft.com/office/powerpoint/2010/main" val="7470088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A404B1-E533-4EDA-AE92-9DA0C282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2000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82A">
              <a:alpha val="549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07C7D-3169-4C66-9DEE-91AF0551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81250" y="4095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>
              <a:alpha val="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7A8E7-13D6-4A0D-97B2-8B6BFAD0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F82A">
              <a:alpha val="9412"/>
            </a:srgbClr>
          </a:solidFill>
          <a:ln xmlns:a="http://schemas.openxmlformats.org/drawingml/2006/main" w="9525">
            <a:solidFill>
              <a:srgbClr val="C4F82A">
                <a:alpha val="3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3E0AA-BF48-4606-8A7C-DFCA649A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312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4F82A"/>
                </a:solidFill>
              </a:defRPr>
            </a:pPr>
            <a:r>
              <a:rPr sz="825" b="1">
                <a:solidFill>
                  <a:srgbClr val="C4F82A"/>
                </a:solidFill>
              </a:rPr>
              <a:t>QUORIL PULSE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561C7-9429-49ED-8F18-F903AD4A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The canvas board is where strategy becomes executable.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DC8B5-BB29-4B63-9662-D5D6FA35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9AA4B2"/>
                </a:solidFill>
              </a:defRPr>
            </a:pPr>
            <a:r>
              <a:rPr sz="1500" b="0">
                <a:solidFill>
                  <a:srgbClr val="9AA4B2"/>
                </a:solidFill>
              </a:rPr>
              <a:t>Quoril's visual board turns messy thinking into tasks, owners, notes, links, and shared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28AE6-B5C9-4D82-88A4-52591852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76429-B8C3-4CB5-8CCD-9949F82C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Quoril Pulse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117F7-034F-4423-A144-CF12ED5C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5D988-9320-43B1-BE64-B3D14121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683895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090D12"/>
          </a:solidFill>
          <a:ln xmlns:a="http://schemas.openxmlformats.org/drawingml/2006/main" w="9525">
            <a:solidFill>
              <a:srgbClr val="C4F82A">
                <a:alpha val="2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35556-D9EC-418C-8D6B-25FB5EB9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F82A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1FF53-456F-4326-8753-55720163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24325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53CC6-2AEE-432C-AC8D-781CFED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671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5439C-F615-408E-8EE6-44BE98B3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28950"/>
            <a:ext cx="17907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4F82A">
              <a:alpha val="10196"/>
            </a:srgbClr>
          </a:solidFill>
          <a:ln xmlns:a="http://schemas.openxmlformats.org/drawingml/2006/main" w="9525">
            <a:solidFill>
              <a:srgbClr val="C4F82A">
                <a:alpha val="50196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A853D-02DB-4F50-BAC3-E9B65F72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194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C4F82A"/>
                </a:solidFill>
              </a:defRPr>
            </a:pPr>
            <a:r>
              <a:rPr sz="1275" b="1">
                <a:solidFill>
                  <a:srgbClr val="C4F82A"/>
                </a:solidFill>
              </a:rPr>
              <a:t>Launch 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92AEFE-7120-4E08-9A5F-F842D856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90950"/>
            <a:ext cx="19431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2D3EE">
              <a:alpha val="10196"/>
            </a:srgbClr>
          </a:solidFill>
          <a:ln xmlns:a="http://schemas.openxmlformats.org/drawingml/2006/main" w="9525">
            <a:solidFill>
              <a:srgbClr val="22D3EE">
                <a:alpha val="50196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1EEFB7-29E5-47E2-B29B-61669758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9814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22D3EE"/>
                </a:solidFill>
              </a:defRPr>
            </a:pPr>
            <a:r>
              <a:rPr sz="1275" b="1">
                <a:solidFill>
                  <a:srgbClr val="22D3EE"/>
                </a:solidFill>
              </a:rPr>
              <a:t>Content sprint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85A771-E8FB-4187-8A6C-C7B5EB68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62300"/>
            <a:ext cx="11239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8B5CF6">
              <a:alpha val="10196"/>
            </a:srgbClr>
          </a:solidFill>
          <a:ln xmlns:a="http://schemas.openxmlformats.org/drawingml/2006/main" w="9525">
            <a:solidFill>
              <a:srgbClr val="8B5CF6">
                <a:alpha val="50196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E2CAAC-3A39-471A-9D60-BC56BDAD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5280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8B5CF6"/>
                </a:solidFill>
              </a:defRPr>
            </a:pPr>
            <a:r>
              <a:rPr sz="1275" b="1">
                <a:solidFill>
                  <a:srgbClr val="8B5CF6"/>
                </a:solidFill>
              </a:rPr>
              <a:t>Report UI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420BCC-4668-4A27-A510-0AA14EBB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305300"/>
            <a:ext cx="20383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>
              <a:alpha val="10196"/>
            </a:srgbClr>
          </a:solidFill>
          <a:ln xmlns:a="http://schemas.openxmlformats.org/drawingml/2006/main" w="9525">
            <a:solidFill>
              <a:srgbClr val="F59E0B">
                <a:alpha val="50196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E0E3B8-0ED6-409F-9A4A-2781F876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9580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Meeting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C9E28E-5F9B-4EB6-A0CB-EDD3D53D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14478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8FAFC">
              <a:alpha val="10196"/>
            </a:srgbClr>
          </a:solidFill>
          <a:ln xmlns:a="http://schemas.openxmlformats.org/drawingml/2006/main" w="9525">
            <a:solidFill>
              <a:srgbClr val="F8FAFC">
                <a:alpha val="50196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168672-E579-40BA-BBCD-34FBDB81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71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Owners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907259-FB15-4B39-AE81-422BA09C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514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F82A">
              <a:alpha val="9412"/>
            </a:srgbClr>
          </a:solidFill>
          <a:ln xmlns:a="http://schemas.openxmlformats.org/drawingml/2006/main" w="9525">
            <a:solidFill>
              <a:srgbClr val="C4F82A">
                <a:alpha val="4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8D8823-E6AF-40D6-81A2-B72E1A85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2417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C4F82A"/>
                </a:solidFill>
              </a:defRPr>
            </a:pPr>
            <a:r>
              <a:rPr sz="825" b="1">
                <a:solidFill>
                  <a:srgbClr val="C4F82A"/>
                </a:solidFill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15D3B7-A03C-4614-9AD6-535C413A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670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Visual planning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1E0517-A584-48CC-B071-4CF1527D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813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9AA4B2"/>
                </a:solidFill>
              </a:defRPr>
            </a:pPr>
            <a:r>
              <a:rPr sz="1125" b="0">
                <a:solidFill>
                  <a:srgbClr val="9AA4B2"/>
                </a:solidFill>
              </a:rPr>
              <a:t>Free-form boards for product roadmaps, campaigns, workflows, and sprint maps.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648108-2203-46CA-9865-B4B08BE2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514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9412"/>
            </a:srgbClr>
          </a:solidFill>
          <a:ln xmlns:a="http://schemas.openxmlformats.org/drawingml/2006/main" w="9525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8E6716-A59D-4351-97EC-AD20B141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8142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22D3EE"/>
                </a:solidFill>
              </a:defRPr>
            </a:pPr>
            <a:r>
              <a:rPr sz="825" b="1">
                <a:solidFill>
                  <a:srgbClr val="22D3EE"/>
                </a:solidFill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1C6BE5-1B35-4870-9F15-727AACA6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242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Tasks inside context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552DB1-9CE2-4448-BD0C-27993A85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386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9AA4B2"/>
                </a:solidFill>
              </a:defRPr>
            </a:pPr>
            <a:r>
              <a:rPr sz="1125" b="0">
                <a:solidFill>
                  <a:srgbClr val="9AA4B2"/>
                </a:solidFill>
              </a:rPr>
              <a:t>Turn canvas nodes into owned tasks without losing why the work exists.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6CCEEF-E78A-47D7-9103-8E914CD1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0"/>
            <a:ext cx="514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>
              <a:alpha val="9412"/>
            </a:srgbClr>
          </a:solidFill>
          <a:ln xmlns:a="http://schemas.openxmlformats.org/drawingml/2006/main" w="9525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A29611-203C-4D12-A840-1E70FF96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3867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8B5CF6"/>
                </a:solidFill>
              </a:defRPr>
            </a:pPr>
            <a:r>
              <a:rPr sz="825" b="1">
                <a:solidFill>
                  <a:srgbClr val="8B5CF6"/>
                </a:solidFill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8C8541-FA2A-42E5-ADD1-853DF457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815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Shared thinking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2C9282-78A3-4315-A0ED-5F0C396E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95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9AA4B2"/>
                </a:solidFill>
              </a:defRPr>
            </a:pPr>
            <a:r>
              <a:rPr sz="1125" b="0">
                <a:solidFill>
                  <a:srgbClr val="9AA4B2"/>
                </a:solidFill>
              </a:rPr>
              <a:t>Invite teammates, preserve context, and let departments work from one live board.</a:t>
            </a:r>
          </a:p>
        </p:txBody>
      </p:sp>
    </p:spTree>
    <p:extLst>
      <p:ext uri="{BB962C8B-B14F-4D97-AF65-F5344CB8AC3E}">
        <p14:creationId xmlns:p14="http://schemas.microsoft.com/office/powerpoint/2010/main" val="18350180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11A9B9-134A-4472-92F2-444145CB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2000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82A">
              <a:alpha val="549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D8CEE-95DE-49B2-BAA9-69FD52A8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81250" y="4095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>
              <a:alpha val="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71A46-2243-48AE-84F9-45046327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F82A">
              <a:alpha val="9412"/>
            </a:srgbClr>
          </a:solidFill>
          <a:ln xmlns:a="http://schemas.openxmlformats.org/drawingml/2006/main" w="9525">
            <a:solidFill>
              <a:srgbClr val="C4F82A">
                <a:alpha val="3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D1CE3-B2D7-4284-9D4C-942D24C7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312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4F82A"/>
                </a:solidFill>
              </a:defRPr>
            </a:pPr>
            <a:r>
              <a:rPr sz="825" b="1">
                <a:solidFill>
                  <a:srgbClr val="C4F82A"/>
                </a:solidFill>
              </a:rPr>
              <a:t>QUORIL PULSE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A93C9-8FD3-4057-A036-A5ED0AE2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Collaboration is modeled around hierarchy, departments, and ownership.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79E4F-44A3-44E2-8FC8-62DE3666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9AA4B2"/>
                </a:solidFill>
              </a:defRPr>
            </a:pPr>
            <a:r>
              <a:rPr sz="1500" b="0">
                <a:solidFill>
                  <a:srgbClr val="9AA4B2"/>
                </a:solidFill>
              </a:rPr>
              <a:t>Pulse gives every level of the org a working view without forcing every leader into every team's tool.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80FDD-194C-4A20-9ECF-FB1F1505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DAF83-1E1D-4119-B920-A610B5E1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Quoril Pulse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DEA7F7-7BCD-4E41-B324-BB1FF937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7E071-0D6A-4BEB-8A76-35236ABB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28900"/>
            <a:ext cx="87630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C4F82A">
              <a:alpha val="7059"/>
            </a:srgbClr>
          </a:solidFill>
          <a:ln xmlns:a="http://schemas.openxmlformats.org/drawingml/2006/main" w="9525">
            <a:solidFill>
              <a:srgbClr val="C4F82A">
                <a:alpha val="4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1428EF-D9FB-4BD1-9948-DD71EA11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62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C4F82A"/>
                </a:solidFill>
              </a:defRPr>
            </a:pPr>
            <a:r>
              <a:rPr sz="1575" b="1">
                <a:solidFill>
                  <a:srgbClr val="C4F82A"/>
                </a:solidFill>
              </a:rPr>
              <a:t>Executive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E4FCF-A943-4709-AA9A-67F6D9CB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908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Ask Pulse AI for org status, risks, unassigned work, and blockers.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7679E-4A8D-49EF-AC00-EAE783DA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71850"/>
            <a:ext cx="76200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22D3EE">
              <a:alpha val="7059"/>
            </a:srgbClr>
          </a:solidFill>
          <a:ln xmlns:a="http://schemas.openxmlformats.org/drawingml/2006/main" w="9525">
            <a:solidFill>
              <a:srgbClr val="22D3EE">
                <a:alpha val="4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6872DD-BD3A-4C21-8167-1E3A0022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05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2D3EE"/>
                </a:solidFill>
              </a:defRPr>
            </a:pPr>
            <a:r>
              <a:rPr sz="1575" b="1">
                <a:solidFill>
                  <a:srgbClr val="22D3EE"/>
                </a:solidFill>
              </a:rPr>
              <a:t>Department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A1181-CF9E-4FFE-AE85-17EB0730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337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Create initiatives, assign across teams, track delivery health.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FD31C-DAEA-4F69-ABCC-CC8216CD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14800"/>
            <a:ext cx="64770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8B5CF6">
              <a:alpha val="7059"/>
            </a:srgbClr>
          </a:solidFill>
          <a:ln xmlns:a="http://schemas.openxmlformats.org/drawingml/2006/main" w="9525">
            <a:solidFill>
              <a:srgbClr val="8B5CF6">
                <a:alpha val="4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802B4D-4F12-4F16-B0E1-976129A8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48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8B5CF6"/>
                </a:solidFill>
              </a:defRPr>
            </a:pPr>
            <a:r>
              <a:rPr sz="1575" b="1">
                <a:solidFill>
                  <a:srgbClr val="8B5CF6"/>
                </a:solidFill>
              </a:rPr>
              <a:t>Team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EE921-88C2-4DE1-8687-37A8D27E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76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Plan boards, execute tasks, attach meetings, update status.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45EA5E-EA9D-4202-A182-FAE7F78F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57750"/>
            <a:ext cx="53340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59E0B">
              <a:alpha val="7059"/>
            </a:srgbClr>
          </a:solidFill>
          <a:ln xmlns:a="http://schemas.openxmlformats.org/drawingml/2006/main" w="9525">
            <a:solidFill>
              <a:srgbClr val="F59E0B">
                <a:alpha val="4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D8B968-8C45-45AF-9C14-BC903215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991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F59E0B"/>
                </a:solidFill>
              </a:defRPr>
            </a:pPr>
            <a:r>
              <a:rPr sz="1575" b="1">
                <a:solidFill>
                  <a:srgbClr val="F59E0B"/>
                </a:solidFill>
              </a:rPr>
              <a:t>Individual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25FAC9-8CEE-4A0F-9AA6-B6E264D4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196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Focus sessions, personal reports, task-level evidence.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3E18A7-8E7F-4008-98B7-E12AF456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2095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C4F82A">
                <a:alpha val="2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C02951-287D-4D04-A23E-E9A62546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C4F82A"/>
                </a:solidFill>
              </a:defRPr>
            </a:pPr>
            <a:r>
              <a:rPr sz="3150" b="1">
                <a:solidFill>
                  <a:srgbClr val="C4F82A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9673CB-42AD-413F-BFB7-1CB0107D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19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9AA4B2"/>
                </a:solidFill>
              </a:defRPr>
            </a:pPr>
            <a:r>
              <a:rPr sz="975" b="1">
                <a:solidFill>
                  <a:srgbClr val="9AA4B2"/>
                </a:solidFill>
              </a:rPr>
              <a:t>Role-aware views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D18EDD-C3D2-48A8-947C-1274BD99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34000"/>
            <a:ext cx="2095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22D3EE">
                <a:alpha val="2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711006-0B10-4A18-BF4B-EBBF96B3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245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22D3EE"/>
                </a:solidFill>
              </a:defRPr>
            </a:pPr>
            <a:r>
              <a:rPr sz="3150" b="1">
                <a:solidFill>
                  <a:srgbClr val="22D3EE"/>
                </a:solidFill>
              </a:rPr>
              <a:t>All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B1F2DA-25B0-4395-83C7-73E9DE0B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019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9AA4B2"/>
                </a:solidFill>
              </a:defRPr>
            </a:pPr>
            <a:r>
              <a:rPr sz="975" b="1">
                <a:solidFill>
                  <a:srgbClr val="9AA4B2"/>
                </a:solidFill>
              </a:rPr>
              <a:t>Task states queryable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E48577-0D6F-4A1F-BA2C-B11B3355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334000"/>
            <a:ext cx="2095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8B5CF6">
                <a:alpha val="2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BF82ED-F1D4-48DE-A257-39FE2488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5245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8B5CF6"/>
                </a:solidFill>
              </a:defRPr>
            </a:pPr>
            <a:r>
              <a:rPr sz="3150" b="1">
                <a:solidFill>
                  <a:srgbClr val="8B5CF6"/>
                </a:solidFill>
              </a:rPr>
              <a:t>Live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A90EEB-DFC0-47ED-AB1F-62A86885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019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9AA4B2"/>
                </a:solidFill>
              </a:defRPr>
            </a:pPr>
            <a:r>
              <a:rPr sz="975" b="1">
                <a:solidFill>
                  <a:srgbClr val="9AA4B2"/>
                </a:solidFill>
              </a:rPr>
              <a:t>Context preserved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F03333-0E61-408F-A1CB-59CAFB2C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334000"/>
            <a:ext cx="2095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F59E0B">
                <a:alpha val="2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5C7764-BE4E-4063-A301-99B03589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245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59E0B"/>
                </a:solidFill>
              </a:defRPr>
            </a:pPr>
            <a:r>
              <a:rPr sz="3150" b="1">
                <a:solidFill>
                  <a:srgbClr val="F59E0B"/>
                </a:solidFill>
              </a:rPr>
              <a:t>AI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012605-A829-4812-951D-E54F8C4F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19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9AA4B2"/>
                </a:solidFill>
              </a:defRPr>
            </a:pPr>
            <a:r>
              <a:rPr sz="975" b="1">
                <a:solidFill>
                  <a:srgbClr val="9AA4B2"/>
                </a:solidFill>
              </a:rPr>
              <a:t>Meetings -&gt; work</a:t>
            </a:r>
          </a:p>
        </p:txBody>
      </p:sp>
    </p:spTree>
    <p:extLst>
      <p:ext uri="{BB962C8B-B14F-4D97-AF65-F5344CB8AC3E}">
        <p14:creationId xmlns:p14="http://schemas.microsoft.com/office/powerpoint/2010/main" val="17234056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FD7873-0039-4531-A3BE-A869DB40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2000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82A">
              <a:alpha val="549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2FCE7-D66A-456F-98F5-AAB9F7BF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81250" y="4095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>
              <a:alpha val="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4D59A-986B-4932-9041-0298EA23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F82A">
              <a:alpha val="9412"/>
            </a:srgbClr>
          </a:solidFill>
          <a:ln xmlns:a="http://schemas.openxmlformats.org/drawingml/2006/main" w="9525">
            <a:solidFill>
              <a:srgbClr val="C4F82A">
                <a:alpha val="3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6B45B-9AC0-41F0-80A4-4C7ABB9B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312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4F82A"/>
                </a:solidFill>
              </a:defRPr>
            </a:pPr>
            <a:r>
              <a:rPr sz="825" b="1">
                <a:solidFill>
                  <a:srgbClr val="C4F82A"/>
                </a:solidFill>
              </a:rPr>
              <a:t>QUORIL PULSE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8ED23-4405-4D22-8DD2-D3413542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Pulse AI is the conversational control plane for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EF395-5263-4619-BCCE-A039660B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9AA4B2"/>
                </a:solidFill>
              </a:defRPr>
            </a:pPr>
            <a:r>
              <a:rPr sz="1500" b="0">
                <a:solidFill>
                  <a:srgbClr val="9AA4B2"/>
                </a:solidFill>
              </a:rPr>
              <a:t>Leaders and operators can ask, create, assign, summarize, and modify work without spelunking through dashboards.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406FE2-1515-4978-9EA8-D7174651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C18BC-8C84-4907-A8D5-2E8287E5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Quoril Pulse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CADE7-1DB7-4E44-84B8-3BA19B8F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708493-C79F-4033-B635-F1750289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5143500" cy="3048000"/>
          </a:xfrm>
          <a:prstGeom xmlns:a="http://schemas.openxmlformats.org/drawingml/2006/main" prst="roundRect">
            <a:avLst>
              <a:gd name="adj" fmla="val 6875"/>
            </a:avLst>
          </a:prstGeom>
          <a:solidFill xmlns:a="http://schemas.openxmlformats.org/drawingml/2006/main">
            <a:srgbClr val="0A0D12"/>
          </a:solidFill>
          <a:ln xmlns:a="http://schemas.openxmlformats.org/drawingml/2006/main" w="9525">
            <a:solidFill>
              <a:srgbClr val="C4F82A">
                <a:alpha val="2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C6FEC-BA00-4603-8126-0B13AFAA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C4F82A"/>
                </a:solidFill>
              </a:defRPr>
            </a:pPr>
            <a:r>
              <a:rPr sz="1725" b="1">
                <a:solidFill>
                  <a:srgbClr val="C4F82A"/>
                </a:solidFill>
              </a:rPr>
              <a:t>Pulse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F8DD8-5421-4D21-91D3-D90ABF4E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9337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9412"/>
            </a:srgbClr>
          </a:solidFill>
          <a:ln xmlns:a="http://schemas.openxmlformats.org/drawingml/2006/main" w="9525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BA2D5D-EC69-42B0-BA74-166DF659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00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22D3EE"/>
                </a:solidFill>
              </a:defRPr>
            </a:pPr>
            <a:r>
              <a:rPr sz="825" b="1">
                <a:solidFill>
                  <a:srgbClr val="22D3EE"/>
                </a:solidFill>
              </a:rPr>
              <a:t>LIVE ORG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B4E7D-7CBE-4601-B928-732CAC8A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39052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1D27"/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026436-B645-4A99-B427-DD1B4F83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Ask: what is blocked in engineering?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0ADFD-3F8E-422D-A9F0-490C62C0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43300"/>
            <a:ext cx="42672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4F82A">
              <a:alpha val="12549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47D79-42D5-4175-8864-85782073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76650"/>
            <a:ext cx="392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4F82A"/>
                </a:solidFill>
              </a:defRPr>
            </a:pPr>
            <a:r>
              <a:rPr sz="1050" b="1">
                <a:solidFill>
                  <a:srgbClr val="C4F82A"/>
                </a:solidFill>
              </a:rPr>
              <a:t>3 tasks are blocked. 1 has no owner. Design handoff is late.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3DE33-D451-4F8E-B88F-3853C7DA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39052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1D27"/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CEB6DF-DF2E-40CB-BB0D-796B1A34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F8FAFC"/>
                </a:solidFill>
              </a:defRPr>
            </a:pPr>
            <a:r>
              <a:rPr sz="1050" b="0">
                <a:solidFill>
                  <a:srgbClr val="F8FAFC"/>
                </a:solidFill>
              </a:rPr>
              <a:t>Assign the launch checklist to Growth.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ABC502-A944-4C54-81B3-6AB8C004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00600"/>
            <a:ext cx="42672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2D3EE">
              <a:alpha val="11373"/>
            </a:srgbClr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015E14-E459-4CFB-AD80-1F891A9A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33950"/>
            <a:ext cx="392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Created 6 tasks, tagged Growth, due Friday, owners notified.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CE2E8E-7487-4E83-9284-CBF49F1E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22479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C4F82A">
                <a:alpha val="33333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B0DF24-542C-4CCA-ACD4-5F711C28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71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C4F82A"/>
                </a:solidFill>
              </a:defRPr>
            </a:pPr>
            <a:r>
              <a:rPr sz="1575" b="1">
                <a:solidFill>
                  <a:srgbClr val="C4F82A"/>
                </a:solidFill>
              </a:rPr>
              <a:t>Ask status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6C4A03-EC08-4BCF-9B7F-C3F00FBB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956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9AA4B2"/>
                </a:solidFill>
              </a:defRPr>
            </a:pPr>
            <a:r>
              <a:rPr sz="1125" b="0">
                <a:solidFill>
                  <a:srgbClr val="9AA4B2"/>
                </a:solidFill>
              </a:rPr>
              <a:t>What is ongoing, stuck, overdue, or unassigned?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7DFC58-2961-4E4B-82A3-17BC627C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81300"/>
            <a:ext cx="22479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22D3EE">
                <a:alpha val="33333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723668-4AD2-4637-A5C7-71B8806B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71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2D3EE"/>
                </a:solidFill>
              </a:defRPr>
            </a:pPr>
            <a:r>
              <a:rPr sz="1575" b="1">
                <a:solidFill>
                  <a:srgbClr val="22D3EE"/>
                </a:solidFill>
              </a:rPr>
              <a:t>Assign work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375BE9-967B-4994-960B-5EA38C89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956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9AA4B2"/>
                </a:solidFill>
              </a:defRPr>
            </a:pPr>
            <a:r>
              <a:rPr sz="1125" b="0">
                <a:solidFill>
                  <a:srgbClr val="9AA4B2"/>
                </a:solidFill>
              </a:rPr>
              <a:t>Create tasks for any department or owner from a natural-language request.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2B7785-AA66-4679-A5EF-B3DCEA85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48150"/>
            <a:ext cx="22479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8B5CF6">
                <a:alpha val="33333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A962D6-A3BD-4C4F-AFFB-B820409C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38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8B5CF6"/>
                </a:solidFill>
              </a:defRPr>
            </a:pPr>
            <a:r>
              <a:rPr sz="1575" b="1">
                <a:solidFill>
                  <a:srgbClr val="8B5CF6"/>
                </a:solidFill>
              </a:rPr>
              <a:t>Read meetings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62CC3E-B0C6-43E5-82F7-24446F8C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625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9AA4B2"/>
                </a:solidFill>
              </a:defRPr>
            </a:pPr>
            <a:r>
              <a:rPr sz="1125" b="0">
                <a:solidFill>
                  <a:srgbClr val="9AA4B2"/>
                </a:solidFill>
              </a:rPr>
              <a:t>Understand transcripts and turn decisions into created or modified tasks.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7FF74C-02D3-4179-A0EC-7EBCF95C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48150"/>
            <a:ext cx="22479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F59E0B">
                <a:alpha val="33333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259393-20BB-4EC2-9ED7-C551B41E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38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F59E0B"/>
                </a:solidFill>
              </a:defRPr>
            </a:pPr>
            <a:r>
              <a:rPr sz="1575" b="1">
                <a:solidFill>
                  <a:srgbClr val="F59E0B"/>
                </a:solidFill>
              </a:rPr>
              <a:t>Explain the org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467452-D39E-4926-9E74-3C136BBC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625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9AA4B2"/>
                </a:solidFill>
              </a:defRPr>
            </a:pPr>
            <a:r>
              <a:rPr sz="1125" b="0">
                <a:solidFill>
                  <a:srgbClr val="9AA4B2"/>
                </a:solidFill>
              </a:rPr>
              <a:t>Roll up team-level execution into leadership-ready answers.</a:t>
            </a:r>
          </a:p>
        </p:txBody>
      </p:sp>
    </p:spTree>
    <p:extLst>
      <p:ext uri="{BB962C8B-B14F-4D97-AF65-F5344CB8AC3E}">
        <p14:creationId xmlns:p14="http://schemas.microsoft.com/office/powerpoint/2010/main" val="12554973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6C0C43-9E01-4700-8B09-64D2CA41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2000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82A">
              <a:alpha val="549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5F610-D096-435C-9F31-AFBEB593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81250" y="4095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>
              <a:alpha val="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25B7B-064C-4CF9-816A-7299B841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F82A">
              <a:alpha val="9412"/>
            </a:srgbClr>
          </a:solidFill>
          <a:ln xmlns:a="http://schemas.openxmlformats.org/drawingml/2006/main" w="9525">
            <a:solidFill>
              <a:srgbClr val="C4F82A">
                <a:alpha val="3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F8466-E72E-47FC-A9C8-43C2F13C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312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4F82A"/>
                </a:solidFill>
              </a:defRPr>
            </a:pPr>
            <a:r>
              <a:rPr sz="825" b="1">
                <a:solidFill>
                  <a:srgbClr val="C4F82A"/>
                </a:solidFill>
              </a:rPr>
              <a:t>QUORIL PULSE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CBBD7-1668-4EE7-8AE6-09D720E0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Reports become a decision engine with Generate Insights.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16EA7-F64F-4954-A017-D038978E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9AA4B2"/>
                </a:solidFill>
              </a:defRPr>
            </a:pPr>
            <a:r>
              <a:rPr sz="1500" b="0">
                <a:solidFill>
                  <a:srgbClr val="9AA4B2"/>
                </a:solidFill>
              </a:rPr>
              <a:t>The analytics layer surfaces deep work, distraction, task-focus linkage, planned vs actual, and AI-generated next steps.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CDEFE-F4A7-4C4C-96D8-1687D120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DCD91-7E65-4F95-9530-DF2B70A0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Quoril Pulse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84FB8-3449-4F23-B2E1-A45E6E8B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7E325-8D8E-4B62-9EF4-EA3A3AC8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6572250" cy="3028950"/>
          </a:xfrm>
          <a:prstGeom xmlns:a="http://schemas.openxmlformats.org/drawingml/2006/main" prst="roundRect">
            <a:avLst>
              <a:gd name="adj" fmla="val 6918"/>
            </a:avLst>
          </a:prstGeom>
          <a:solidFill xmlns:a="http://schemas.openxmlformats.org/drawingml/2006/main">
            <a:srgbClr val="0A0E13"/>
          </a:solidFill>
          <a:ln xmlns:a="http://schemas.openxmlformats.org/drawingml/2006/main" w="9525">
            <a:solidFill>
              <a:srgbClr val="FFFFFF">
                <a:alpha val="9412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3FC58-6055-45E8-8EA0-6CFD97E1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C4F82A"/>
                </a:solidFill>
              </a:defRPr>
            </a:pPr>
            <a:r>
              <a:rPr sz="2250" b="1">
                <a:solidFill>
                  <a:srgbClr val="C4F82A"/>
                </a:solidFill>
              </a:rPr>
              <a:t>Generate Insights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976D6-8E7E-488B-9C81-8870FEE5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9AA4B2"/>
                </a:solidFill>
              </a:defRPr>
            </a:pPr>
            <a:r>
              <a:rPr sz="1125" b="0">
                <a:solidFill>
                  <a:srgbClr val="9AA4B2"/>
                </a:solidFill>
              </a:rPr>
              <a:t>AI summary cached per report range, with visual context before recommendations.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42263-289C-4302-AD43-77E8B136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3525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C4F82A">
                <a:alpha val="2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5AECB-2F38-4F1B-86EA-44F8A250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C4F82A"/>
                </a:solidFill>
              </a:defRPr>
            </a:pPr>
            <a:r>
              <a:rPr sz="3150" b="1">
                <a:solidFill>
                  <a:srgbClr val="C4F82A"/>
                </a:solidFill>
              </a:rPr>
              <a:t>6.2h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2CA6B9-4443-4E76-BE49-C8D1D842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9AA4B2"/>
                </a:solidFill>
              </a:defRPr>
            </a:pPr>
            <a:r>
              <a:rPr sz="975" b="1">
                <a:solidFill>
                  <a:srgbClr val="9AA4B2"/>
                </a:solidFill>
              </a:rPr>
              <a:t>Deep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98501-A21F-4B97-A91D-DDEB0CF0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905250"/>
            <a:ext cx="13525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22D3EE">
                <a:alpha val="2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40074B-A66E-4987-BB77-2DC7FD1A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957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22D3EE"/>
                </a:solidFill>
              </a:defRPr>
            </a:pPr>
            <a:r>
              <a:rPr sz="3150" b="1">
                <a:solidFill>
                  <a:srgbClr val="22D3EE"/>
                </a:solidFill>
              </a:rPr>
              <a:t>83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12173-7F4F-440C-BE19-4133C01D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910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9AA4B2"/>
                </a:solidFill>
              </a:defRPr>
            </a:pPr>
            <a:r>
              <a:rPr sz="975" b="1">
                <a:solidFill>
                  <a:srgbClr val="9AA4B2"/>
                </a:solidFill>
              </a:rPr>
              <a:t>Focus 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CE05B4-69FC-40FC-9AE2-469CCD5D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905250"/>
            <a:ext cx="13525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8B5CF6">
                <a:alpha val="2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7678CD-9EF7-4A67-8AAF-C1CB5572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8B5CF6"/>
                </a:solidFill>
              </a:defRPr>
            </a:pPr>
            <a:r>
              <a:rPr sz="3150" b="1">
                <a:solidFill>
                  <a:srgbClr val="8B5CF6"/>
                </a:solidFill>
              </a:rPr>
              <a:t>71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E7A01E-F21D-4B47-8246-04A90D8E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910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9AA4B2"/>
                </a:solidFill>
              </a:defRPr>
            </a:pPr>
            <a:r>
              <a:rPr sz="975" b="1">
                <a:solidFill>
                  <a:srgbClr val="9AA4B2"/>
                </a:solidFill>
              </a:rPr>
              <a:t>Complete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E67F5C-D243-420F-8BD5-8F7648A9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905250"/>
            <a:ext cx="13525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F59E0B">
                <a:alpha val="26667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FCC3E4-A4CD-471C-A6B6-C0DEC6EC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957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59E0B"/>
                </a:solidFill>
              </a:defRPr>
            </a:pPr>
            <a:r>
              <a:rPr sz="3150" b="1">
                <a:solidFill>
                  <a:srgbClr val="F59E0B"/>
                </a:solidFill>
              </a:rPr>
              <a:t>9%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9FB3A6-7350-466C-ADFC-E5AC68C3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910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9AA4B2"/>
                </a:solidFill>
              </a:defRPr>
            </a:pPr>
            <a:r>
              <a:rPr sz="975" b="1">
                <a:solidFill>
                  <a:srgbClr val="9AA4B2"/>
                </a:solidFill>
              </a:rPr>
              <a:t>Distraction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838680-F3AB-4A18-B767-B26B9A85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59817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C4F82A">
              <a:alpha val="7843"/>
            </a:srgbClr>
          </a:solidFill>
          <a:ln xmlns:a="http://schemas.openxmlformats.org/drawingml/2006/main" w="9525">
            <a:solidFill>
              <a:srgbClr val="C4F82A">
                <a:alpha val="33333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838135-8852-4064-8F44-31AA9025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24475"/>
            <a:ext cx="561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Tomorrow: schedule deep work from 9-11am, assign blocked review, reduce comms windows.</a:t>
            </a:r>
          </a:p>
        </p:txBody>
      </p:sp>
      <p:graphicFrame>
        <p:nvGraphicFramePr>
          <p:cNvPr id="60" name="Chart"/>
          <p:cNvGraphicFramePr/>
          <p:nvPr/>
        </p:nvGraphicFramePr>
        <p:xfrm>
          <a:off xmlns:a="http://schemas.openxmlformats.org/drawingml/2006/main" x="7715250" y="5562600"/>
          <a:ext xmlns:a="http://schemas.openxmlformats.org/drawingml/2006/main" cx="3333750" cy="552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1e5e64a6294c03"/>
          </a:graphicData>
        </a:graphic>
      </p:graphicFrame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568C99-A780-4E2F-B2DD-FDFDBF32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60EFCC-7E2D-4F37-9C8B-8B6EC145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242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Turns raw activity into plain-English decisions.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985081-65CE-4928-9439-64A7C6BA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198BA2-315B-4F0A-AF41-4BACF5EB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528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Shows the why behind productivity, not just a score.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1568CA-20B0-4FDF-9918-3E7BC159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29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80C6C0-E2C6-4073-BE63-8AA369AD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815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Connects personal reports to org-level Pulse intelligence.</a:t>
            </a:r>
          </a:p>
        </p:txBody>
      </p:sp>
    </p:spTree>
    <p:extLst>
      <p:ext uri="{BB962C8B-B14F-4D97-AF65-F5344CB8AC3E}">
        <p14:creationId xmlns:p14="http://schemas.microsoft.com/office/powerpoint/2010/main" val="11464716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57FEAB-E899-4369-A547-10D7B482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2000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82A">
              <a:alpha val="549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C459F-26B3-4197-8F32-5AB33530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81250" y="4095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>
              <a:alpha val="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CC9FB-CCC0-4452-B76C-F7803A55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F82A">
              <a:alpha val="9412"/>
            </a:srgbClr>
          </a:solidFill>
          <a:ln xmlns:a="http://schemas.openxmlformats.org/drawingml/2006/main" w="9525">
            <a:solidFill>
              <a:srgbClr val="C4F82A">
                <a:alpha val="3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10BC1-CFAD-473C-ABAB-ABED12EB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312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4F82A"/>
                </a:solidFill>
              </a:defRPr>
            </a:pPr>
            <a:r>
              <a:rPr sz="825" b="1">
                <a:solidFill>
                  <a:srgbClr val="C4F82A"/>
                </a:solidFill>
              </a:rPr>
              <a:t>QUORIL PULSE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C9910-1944-4BD5-BE6D-35587E88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The market owns pieces. Quoril owns the loop.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6975E-DB5B-4698-88A6-D7B9B31A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9AA4B2"/>
                </a:solidFill>
              </a:defRPr>
            </a:pPr>
            <a:r>
              <a:rPr sz="1500" b="0">
                <a:solidFill>
                  <a:srgbClr val="9AA4B2"/>
                </a:solidFill>
              </a:rPr>
              <a:t>Competitors optimize for lists, tracking, or focus. Quoril connects intent, execution, evidence, insight, and AI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60635-93F4-4A71-BEA1-B0858360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BB975-BC8F-4927-B2F3-2EEAB2E9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Quoril Pulse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6F745-27B9-472B-B81E-9D5887DD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1656E-9A91-451A-BCC9-373D4E68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9AA4B2"/>
                </a:solidFill>
              </a:defRPr>
            </a:pPr>
            <a:r>
              <a:rPr sz="975" b="1">
                <a:solidFill>
                  <a:srgbClr val="9AA4B2"/>
                </a:solidFill>
              </a:rPr>
              <a:t>Capability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310C4-1394-401A-8AF3-7385A313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9AA4B2"/>
                </a:solidFill>
              </a:defRPr>
            </a:pPr>
            <a:r>
              <a:rPr sz="975" b="1">
                <a:solidFill>
                  <a:srgbClr val="9AA4B2"/>
                </a:solidFill>
              </a:rPr>
              <a:t>Planner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32803-8FB9-4B9C-9FF3-69ACE9AF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9AA4B2"/>
                </a:solidFill>
              </a:defRPr>
            </a:pPr>
            <a:r>
              <a:rPr sz="975" b="1">
                <a:solidFill>
                  <a:srgbClr val="9AA4B2"/>
                </a:solidFill>
              </a:rPr>
              <a:t>Focus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3B97C-1CD9-4BDE-8751-CD14009A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812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9AA4B2"/>
                </a:solidFill>
              </a:defRPr>
            </a:pPr>
            <a:r>
              <a:rPr sz="975" b="1">
                <a:solidFill>
                  <a:srgbClr val="9AA4B2"/>
                </a:solidFill>
              </a:rPr>
              <a:t>Tracking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556B7-3A13-4629-A03F-5320B2E3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9AA4B2"/>
                </a:solidFill>
              </a:defRPr>
            </a:pPr>
            <a:r>
              <a:rPr sz="975" b="1">
                <a:solidFill>
                  <a:srgbClr val="9AA4B2"/>
                </a:solidFill>
              </a:rPr>
              <a:t>Reports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E5FC0-07EE-499D-911F-BC1982F4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9AA4B2"/>
                </a:solidFill>
              </a:defRPr>
            </a:pPr>
            <a:r>
              <a:rPr sz="975" b="1">
                <a:solidFill>
                  <a:srgbClr val="9AA4B2"/>
                </a:solidFill>
              </a:rPr>
              <a:t>AI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4AA13-A229-49BE-987B-D000A1EE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812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9AA4B2"/>
                </a:solidFill>
              </a:defRPr>
            </a:pPr>
            <a:r>
              <a:rPr sz="975" b="1">
                <a:solidFill>
                  <a:srgbClr val="9AA4B2"/>
                </a:solidFill>
              </a:rPr>
              <a:t>Org Pulse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BAC37-884F-467E-B7E2-7576DB9C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99822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B1A65B-6073-4E3B-A6EA-FCEF0389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241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Todo apps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B270D-2BD2-47C6-A0F1-F6CC9F4F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05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BA4488-69E8-4538-8DC0-8823DCC7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05125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9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11DC18-912C-4020-9226-388F33EA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05125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9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D7A206-16C4-4107-9461-88BA62BA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05125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9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EE533E-0BC3-496B-832A-0EE42069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05125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9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914C2D-0FF5-4447-829A-4100A491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905125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9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B88BDC-0765-4DB3-8346-6CD999D8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99822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828215-ACC4-41C1-8BD2-C9EB5214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194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Time trackers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6401C9-6C16-4F2C-8AC3-ED1F9661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00425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9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D109DF-1777-4BCF-8BF3-66F948CD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00425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9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D4D627-F0AB-4D91-B905-CA3C2126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040D47-FFB0-4A44-84A1-B0AB7920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00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1F7AB1-9AD1-4D96-B850-ACDC2A6F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00425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9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1953EF-EA4E-49C4-BAF1-8433C819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00425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9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BDB8FB-F6B6-4750-BEF5-7A10C2D3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99822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6C00C2-69B2-4C18-BD08-339E7B5F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147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Focus apps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A4F295-F572-47AC-BE43-78F45F8E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95725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9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2C9330-0636-48A1-9BE5-7A775C7A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95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383B3C-5A03-4701-BEFA-56BA2C9F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95725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9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36D455-3887-4CA4-B366-D87C3915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95725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9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B16B08-688A-4259-A1C0-4B918F80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95725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9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AC0846-D51A-43F5-965B-75BDCF3A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895725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9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1F8D5D-8F2F-4E69-A0CB-A438D889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99822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299483-674D-4A70-AF9A-C68C6A03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00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Project tools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02FFE2-330A-468C-AD4A-5F7334AD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910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E1A53D-9E8C-4F88-A351-02EAC878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91025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9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C55242-FEF3-46FB-9BE4-680ACAC2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91025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9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3D2354-678D-450F-971C-F08530E3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910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0D5710-55C8-475C-9D83-B131ABE1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91025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9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F57E10-67A9-4CF8-BD66-2578771B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3910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FBB8CE-AD06-4428-B67A-81F140E7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99822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4F82A">
              <a:alpha val="7843"/>
            </a:srgbClr>
          </a:solidFill>
          <a:ln xmlns:a="http://schemas.openxmlformats.org/drawingml/2006/main" w="9525">
            <a:solidFill>
              <a:srgbClr val="C4F82A">
                <a:alpha val="46667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71B311-BF41-4A6E-996F-760D0BA8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053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C4F82A"/>
                </a:solidFill>
              </a:defRPr>
            </a:pPr>
            <a:r>
              <a:rPr sz="1125" b="1">
                <a:solidFill>
                  <a:srgbClr val="C4F82A"/>
                </a:solidFill>
              </a:rPr>
              <a:t>Quoril Pulse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BE636A2-19F3-4E1E-B862-CB3298B5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86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513B97-1EFA-4351-9189-1D9B1171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86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FFD029-9B03-43F7-8606-2DEB0AE7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86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9DDD35-3304-4839-AFF6-9F11EF24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86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6F53C6E-18A1-44A4-AC5D-92F44672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86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877DB45-77D1-47B0-90FA-DB1F9007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886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7A3A934-BC33-4D4C-94A3-4F93C229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578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C4F82A"/>
                </a:solidFill>
              </a:defRPr>
            </a:pPr>
            <a:r>
              <a:rPr sz="1800" b="1">
                <a:solidFill>
                  <a:srgbClr val="C4F82A"/>
                </a:solidFill>
              </a:rPr>
              <a:t>Differentiation is not one feature. It is the integrated data model that makes Pulse AI possible.</a:t>
            </a:r>
          </a:p>
        </p:txBody>
      </p:sp>
    </p:spTree>
    <p:extLst>
      <p:ext uri="{BB962C8B-B14F-4D97-AF65-F5344CB8AC3E}">
        <p14:creationId xmlns:p14="http://schemas.microsoft.com/office/powerpoint/2010/main" val="2782876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4D2AD3-DB46-4C39-A69C-F08F2363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2000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82A">
              <a:alpha val="549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7EAF7-30A2-4735-A7A5-FC17EA02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81250" y="4095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>
              <a:alpha val="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59B96-9A36-40BE-83A7-A996923D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F82A">
              <a:alpha val="9412"/>
            </a:srgbClr>
          </a:solidFill>
          <a:ln xmlns:a="http://schemas.openxmlformats.org/drawingml/2006/main" w="9525">
            <a:solidFill>
              <a:srgbClr val="C4F82A">
                <a:alpha val="3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7A178-6418-4B1A-A50B-376C94AC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312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4F82A"/>
                </a:solidFill>
              </a:defRPr>
            </a:pPr>
            <a:r>
              <a:rPr sz="825" b="1">
                <a:solidFill>
                  <a:srgbClr val="C4F82A"/>
                </a:solidFill>
              </a:rPr>
              <a:t>QUORIL PULSE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3DC7B-7A55-4C71-8A7F-854AEAEC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Roadmap: free data loop -&gt; paid AI layer -&gt; tokenised productivity network.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F7AB3-5995-4810-88ED-EF5FEB2D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9AA4B2"/>
                </a:solidFill>
              </a:defRPr>
            </a:pPr>
            <a:r>
              <a:rPr sz="1500" b="0">
                <a:solidFill>
                  <a:srgbClr val="9AA4B2"/>
                </a:solidFill>
              </a:rPr>
              <a:t>The product grows from a personal daily habit into an organization graph, then into a gamified reward platform.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AF05C-C9C2-4952-804C-235B707B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03158-52FF-4914-8532-B5BFF1BE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Quoril Pulse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BCBBE-8F7C-4770-B825-32C3FF09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BC0A9-FA74-49B7-8C26-E8CAF31E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3200400" cy="23812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C4F82A">
                <a:alpha val="4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992E5-8A33-489E-8052-66FDA63D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91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600" b="1">
                <a:solidFill>
                  <a:srgbClr val="C4F82A"/>
                </a:solidFill>
              </a:defRPr>
            </a:pPr>
            <a:r>
              <a:rPr sz="3600" b="1">
                <a:solidFill>
                  <a:srgbClr val="C4F82A"/>
                </a:solidFill>
              </a:rPr>
              <a:t>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7702E-4139-4D82-B776-1F314BB3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Free personal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9913C1-C532-4FCD-86BA-71F6B114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0050"/>
            <a:ext cx="2628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9AA4B2"/>
                </a:solidFill>
              </a:defRPr>
            </a:pPr>
            <a:r>
              <a:rPr sz="1200" b="0">
                <a:solidFill>
                  <a:srgbClr val="9AA4B2"/>
                </a:solidFill>
              </a:rPr>
              <a:t>Tasks, canvas, focus, reports, and lightweight sync create daily habit and ethically collect productivity data.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4C133-90F9-464C-9D41-273C64DF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10000"/>
            <a:ext cx="40005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2CBF32-1542-4F71-A089-97A83D98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76550"/>
            <a:ext cx="3200400" cy="23812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22D3EE">
                <a:alpha val="4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4E142-9A5E-4AAC-B90D-A100525D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05150"/>
            <a:ext cx="91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600" b="1">
                <a:solidFill>
                  <a:srgbClr val="22D3EE"/>
                </a:solidFill>
              </a:defRPr>
            </a:pPr>
            <a:r>
              <a:rPr sz="3600" b="1">
                <a:solidFill>
                  <a:srgbClr val="22D3EE"/>
                </a:solidFill>
              </a:rPr>
              <a:t>V2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27170B-43B4-42F8-91DF-21CB6677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90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Paid AI-native layer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5725AD-C1F0-43C1-B1F3-C582B70B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10050"/>
            <a:ext cx="2628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9AA4B2"/>
                </a:solidFill>
              </a:defRPr>
            </a:pPr>
            <a:r>
              <a:rPr sz="1200" b="0">
                <a:solidFill>
                  <a:srgbClr val="9AA4B2"/>
                </a:solidFill>
              </a:rPr>
              <a:t>Integrations, Pulse AI, meeting transcript intelligence, deeper insights, and org workflows live behind paywall.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FC1552-808C-4F14-9E37-48DCEFED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10000"/>
            <a:ext cx="40005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0E7FE5-B08D-450A-B769-05891E06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76550"/>
            <a:ext cx="3200400" cy="23812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F59E0B">
                <a:alpha val="4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774E8A-595D-4B8D-B022-8CE5E3D6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91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600" b="1">
                <a:solidFill>
                  <a:srgbClr val="F59E0B"/>
                </a:solidFill>
              </a:defRPr>
            </a:pPr>
            <a:r>
              <a:rPr sz="3600" b="1">
                <a:solidFill>
                  <a:srgbClr val="F59E0B"/>
                </a:solidFill>
              </a:rPr>
              <a:t>V3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A23C7-7903-4A90-8E01-716C2D81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90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Tokenised rewards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F598AE-C226-4261-BD25-A7616C53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2628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9AA4B2"/>
                </a:solidFill>
              </a:defRPr>
            </a:pPr>
            <a:r>
              <a:rPr sz="1200" b="0">
                <a:solidFill>
                  <a:srgbClr val="9AA4B2"/>
                </a:solidFill>
              </a:rPr>
              <a:t>Users and teams earn productivity rewards, turning progress into a game-like incentive system.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36E1DD-A3E5-42FE-BB21-F71C7B88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76900"/>
            <a:ext cx="899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The strategic center: Quoril Pulse ships in V2 as the organization-level software layer.</a:t>
            </a:r>
          </a:p>
        </p:txBody>
      </p:sp>
    </p:spTree>
    <p:extLst>
      <p:ext uri="{BB962C8B-B14F-4D97-AF65-F5344CB8AC3E}">
        <p14:creationId xmlns:p14="http://schemas.microsoft.com/office/powerpoint/2010/main" val="19570284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B7D8C3-285D-4EA8-9E4D-F7A24B64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2000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82A">
              <a:alpha val="549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80259-98F6-450B-9475-126965C1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81250" y="4095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>
              <a:alpha val="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DDE1F-EC5A-4F1F-AE65-649BDBBA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F82A">
              <a:alpha val="9412"/>
            </a:srgbClr>
          </a:solidFill>
          <a:ln xmlns:a="http://schemas.openxmlformats.org/drawingml/2006/main" w="9525">
            <a:solidFill>
              <a:srgbClr val="C4F82A">
                <a:alpha val="3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F76E3-6814-406F-9C66-362446BF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312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4F82A"/>
                </a:solidFill>
              </a:defRPr>
            </a:pPr>
            <a:r>
              <a:rPr sz="825" b="1">
                <a:solidFill>
                  <a:srgbClr val="C4F82A"/>
                </a:solidFill>
              </a:rPr>
              <a:t>QUORIL PULSE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57E69-A32F-43F4-AD1A-BB7F620F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Quoril Pulse is the enterprise wedge.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C035A-F575-451A-AC18-1D1DC0D6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9AA4B2"/>
                </a:solidFill>
              </a:defRPr>
            </a:pPr>
            <a:r>
              <a:rPr sz="1500" b="0">
                <a:solidFill>
                  <a:srgbClr val="9AA4B2"/>
                </a:solidFill>
              </a:rPr>
              <a:t>A single operating layer for teams to plan, execute, track, and ask what is happening anywhere in the hierarchy.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F4E2F-7A77-4CD1-A61B-FE000241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0181F-DA9B-4140-991C-42AF2BC2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Quoril Pulse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23799-5948-463D-AFE6-051B47A6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37B44E-7D58-4D31-94D7-05216B28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3429000" cy="23812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C4F82A">
                <a:alpha val="4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BD900-870C-4CC4-B1AD-1D14594E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C4F82A"/>
                </a:solidFill>
              </a:defRPr>
            </a:pPr>
            <a:r>
              <a:rPr sz="2100" b="1">
                <a:solidFill>
                  <a:srgbClr val="C4F82A"/>
                </a:solidFill>
              </a:rPr>
              <a:t>For teams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E71E6-3D21-4C8B-9311-72DF0207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Plan work on boards, execute with owners, connect meeting decisions, and keep live status clean.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114D4-C580-4DB4-86AC-A456E93A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38450"/>
            <a:ext cx="3429000" cy="23812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22D3EE">
                <a:alpha val="4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6CD97D-B45E-498B-8D8C-15E35B29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43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22D3EE"/>
                </a:solidFill>
              </a:defRPr>
            </a:pPr>
            <a:r>
              <a:rPr sz="2100" b="1">
                <a:solidFill>
                  <a:srgbClr val="22D3EE"/>
                </a:solidFill>
              </a:rPr>
              <a:t>For managers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0190E0-867E-4089-82EB-078013B8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576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Find unassigned tasks, blockers, overdue work, team load, and department-level execution risk.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DF7DC1-E225-413B-875D-255344A6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38450"/>
            <a:ext cx="3429000" cy="23812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8B5CF6">
                <a:alpha val="4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18F453-87D1-4891-8E34-D61D7D42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8B5CF6"/>
                </a:solidFill>
              </a:defRPr>
            </a:pPr>
            <a:r>
              <a:rPr sz="2100" b="1">
                <a:solidFill>
                  <a:srgbClr val="8B5CF6"/>
                </a:solidFill>
              </a:rPr>
              <a:t>For leadership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4B94F-BB06-4D57-B42F-985A6545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576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Ask Pulse AI for the truth: what's active, stuck, ownerless, high-risk, or ready to accelerate.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D1FFA7-778C-43D9-8138-96B7ABEA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429250"/>
            <a:ext cx="7124700" cy="514350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C4F82A">
              <a:alpha val="9412"/>
            </a:srgbClr>
          </a:solidFill>
          <a:ln xmlns:a="http://schemas.openxmlformats.org/drawingml/2006/main" w="9525">
            <a:solidFill>
              <a:srgbClr val="C4F82A">
                <a:alpha val="4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AFA9D4-A540-4249-B8AA-3B506F14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816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C4F82A"/>
                </a:solidFill>
              </a:defRPr>
            </a:pPr>
            <a:r>
              <a:rPr sz="1650" b="1">
                <a:solidFill>
                  <a:srgbClr val="C4F82A"/>
                </a:solidFill>
              </a:rPr>
              <a:t>One hierarchy. One productivity graph. One AI interface to ask and act.</a:t>
            </a:r>
          </a:p>
        </p:txBody>
      </p:sp>
    </p:spTree>
    <p:extLst>
      <p:ext uri="{BB962C8B-B14F-4D97-AF65-F5344CB8AC3E}">
        <p14:creationId xmlns:p14="http://schemas.microsoft.com/office/powerpoint/2010/main" val="1067721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B37C40-920A-4BFC-99A0-4D5EA7D6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2000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82A">
              <a:alpha val="549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D3D45-D012-43C8-A6AA-F7AC2FDB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81250" y="4095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>
              <a:alpha val="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D44B6-4299-4EA6-810E-BD54D8C3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F82A">
              <a:alpha val="9412"/>
            </a:srgbClr>
          </a:solidFill>
          <a:ln xmlns:a="http://schemas.openxmlformats.org/drawingml/2006/main" w="9525">
            <a:solidFill>
              <a:srgbClr val="C4F82A">
                <a:alpha val="3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C6109-F9A1-44DC-B06D-1B4FAE42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3124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4F82A"/>
                </a:solidFill>
              </a:defRPr>
            </a:pPr>
            <a:r>
              <a:rPr sz="825" b="1">
                <a:solidFill>
                  <a:srgbClr val="C4F82A"/>
                </a:solidFill>
              </a:rPr>
              <a:t>QUORIL PULSE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8A62E-7051-492C-A3E2-9E215FEF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Marketing plan: premium, organic, demo-led.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6DA13-92DE-4535-92C9-30D81D15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9AA4B2"/>
                </a:solidFill>
              </a:defRPr>
            </a:pPr>
            <a:r>
              <a:rPr sz="1500" b="0">
                <a:solidFill>
                  <a:srgbClr val="9AA4B2"/>
                </a:solidFill>
              </a:rPr>
              <a:t>Win the deep-work community first, then convert personal adoption into team demand for Pulse.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315A7-7B66-4264-91BC-25A70FA9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35A32-079C-467A-ACDD-1748952A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Quoril Pulse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9758B-673B-4B8D-85B0-94175DDB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5A639-8733-42D3-8537-30EC68FB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4762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C4F82A">
                <a:alpha val="33333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37D72-29F7-4A5E-B695-49CEAD54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F82A">
              <a:alpha val="9412"/>
            </a:srgbClr>
          </a:solidFill>
          <a:ln xmlns:a="http://schemas.openxmlformats.org/drawingml/2006/main" w="9525">
            <a:solidFill>
              <a:srgbClr val="C4F82A">
                <a:alpha val="4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484708-2A64-44A9-86F3-D4530562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718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C4F82A"/>
                </a:solidFill>
              </a:defRPr>
            </a:pPr>
            <a:r>
              <a:rPr sz="825" b="1">
                <a:solidFill>
                  <a:srgbClr val="C4F82A"/>
                </a:solidFill>
              </a:rPr>
              <a:t>Reddit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EC6B5-7EC3-4738-98AC-421AC351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051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Highest intent productivity and dev communities; value-first posts and feedback loops.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6A437-47AE-461C-B0EE-E24448CF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76550"/>
            <a:ext cx="4762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22D3EE">
                <a:alpha val="33333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351CA7-89A5-4F83-85AE-358EC712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51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9412"/>
            </a:srgbClr>
          </a:solidFill>
          <a:ln xmlns:a="http://schemas.openxmlformats.org/drawingml/2006/main" w="9525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C0F3EE-4CBB-42A6-AA9B-68F32346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7182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22D3EE"/>
                </a:solidFill>
              </a:defRPr>
            </a:pPr>
            <a:r>
              <a:rPr sz="825" b="1">
                <a:solidFill>
                  <a:srgbClr val="22D3EE"/>
                </a:solidFill>
              </a:rPr>
              <a:t>X / build in public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8178B-14DE-4F88-BE7A-9054E841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051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Daily product clips, insight threads, waitlist milestones, and founderless brand voice.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BB4357-DB5A-4849-91F7-CCE15822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4762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8B5CF6">
                <a:alpha val="33333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68D31F-AA8A-4B91-8E3D-67AB6E54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>
              <a:alpha val="9412"/>
            </a:srgbClr>
          </a:solidFill>
          <a:ln xmlns:a="http://schemas.openxmlformats.org/drawingml/2006/main" w="9525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E25F0D-CA64-48AA-8D30-B8C3AC29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24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8B5CF6"/>
                </a:solidFill>
              </a:defRPr>
            </a:pPr>
            <a:r>
              <a:rPr sz="825" b="1">
                <a:solidFill>
                  <a:srgbClr val="8B5CF6"/>
                </a:solidFill>
              </a:rPr>
              <a:t>Product Hunt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514AFE-2C4F-46B5-A408-B188E63F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577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Launch-day spike with polished gallery, demos, and active comment support.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7B8F6C-A52E-4A97-8765-D1C89456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29100"/>
            <a:ext cx="4762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F59E0B">
                <a:alpha val="33333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D4315D-C2C7-4D05-ACE3-BDA60CF5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577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>
              <a:alpha val="9412"/>
            </a:srgbClr>
          </a:solidFill>
          <a:ln xmlns:a="http://schemas.openxmlformats.org/drawingml/2006/main" w="9525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3F7B81-786A-4E9A-8D59-5EE73EF9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24375"/>
            <a:ext cx="1200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9E0B"/>
                </a:solidFill>
              </a:defRPr>
            </a:pPr>
            <a:r>
              <a:rPr sz="825" b="1">
                <a:solidFill>
                  <a:srgbClr val="F59E0B"/>
                </a:solidFill>
              </a:rPr>
              <a:t>LinkedIn + outreach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47E6D0-A7C0-4CE1-969A-19973182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577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Professional proof, team productivity angle, micro-creator/community partnerships.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251C11-1498-4258-AD50-53D5E5C3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76900"/>
            <a:ext cx="967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4F82A"/>
                </a:solidFill>
              </a:defRPr>
            </a:pPr>
            <a:r>
              <a:rPr sz="1350" b="1">
                <a:solidFill>
                  <a:srgbClr val="C4F82A"/>
                </a:solidFill>
              </a:rPr>
              <a:t>Week 0 asset sprint: product demo video, canvas/report/focus clips, beta testimonials, landing conversion, waitlist nurture.</a:t>
            </a:r>
          </a:p>
        </p:txBody>
      </p:sp>
    </p:spTree>
    <p:extLst>
      <p:ext uri="{BB962C8B-B14F-4D97-AF65-F5344CB8AC3E}">
        <p14:creationId xmlns:p14="http://schemas.microsoft.com/office/powerpoint/2010/main" val="17217206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77CC12-751A-491E-ACC3-A6FDC16E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2000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82A">
              <a:alpha val="549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A5D29-C8E2-4AAF-919F-B1574587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81250" y="4095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>
              <a:alpha val="3922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c3fd500b548a9"/>
          <a:stretch xmlns:a="http://schemas.openxmlformats.org/drawingml/2006/main"/>
        </p:blipFill>
        <p:spPr>
          <a:xfrm xmlns:a="http://schemas.openxmlformats.org/drawingml/2006/main">
            <a:off x="5638800" y="70485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44FA7-942C-43B0-BD5D-CC2BF998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19300"/>
            <a:ext cx="9067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4200" b="1">
                <a:solidFill>
                  <a:srgbClr val="F8FAFC"/>
                </a:solidFill>
              </a:defRPr>
            </a:pPr>
            <a:r>
              <a:rPr sz="4200" b="1">
                <a:solidFill>
                  <a:srgbClr val="F8FAFC"/>
                </a:solidFill>
              </a:rPr>
              <a:t>Build the productivity graph.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E8013-56DB-448D-B56C-05D04FCA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14650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950" b="0">
                <a:solidFill>
                  <a:srgbClr val="9AA4B2"/>
                </a:solidFill>
              </a:defRPr>
            </a:pPr>
            <a:r>
              <a:rPr sz="1950" b="0">
                <a:solidFill>
                  <a:srgbClr val="9AA4B2"/>
                </a:solidFill>
              </a:rPr>
              <a:t>Launch the personal loop. Scale into Quoril Pulse. Turn organizational work into something leaders can ask, understand, and act 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D49FF-0245-4E3F-B3AD-54E8E4B7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00550"/>
            <a:ext cx="20955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C4F82A">
                <a:alpha val="4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48231-DB33-4684-AD47-8DDC49CC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91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100" b="1">
                <a:solidFill>
                  <a:srgbClr val="C4F82A"/>
                </a:solidFill>
              </a:defRPr>
            </a:pPr>
            <a:r>
              <a:rPr sz="2100" b="1">
                <a:solidFill>
                  <a:srgbClr val="C4F82A"/>
                </a:solidFill>
              </a:rPr>
              <a:t>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6A300-29AC-42F1-8016-9371AD60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9720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Free data 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3D3E9-7CB4-484C-A510-646C71AA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00550"/>
            <a:ext cx="20955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22D3EE">
                <a:alpha val="4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6A58F-7E12-4399-BA74-83434A26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91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100" b="1">
                <a:solidFill>
                  <a:srgbClr val="22D3EE"/>
                </a:solidFill>
              </a:defRPr>
            </a:pPr>
            <a:r>
              <a:rPr sz="2100" b="1">
                <a:solidFill>
                  <a:srgbClr val="22D3EE"/>
                </a:solidFill>
              </a:rPr>
              <a:t>V2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6AC3A2-E14F-44A7-B640-99E20120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720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Pulse AI + paid integrations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639A0-6639-4666-B569-06AFB28C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00550"/>
            <a:ext cx="20955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0D1219"/>
          </a:solidFill>
          <a:ln xmlns:a="http://schemas.openxmlformats.org/drawingml/2006/main" w="9525">
            <a:solidFill>
              <a:srgbClr val="F59E0B">
                <a:alpha val="4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C7C285-679E-4815-AA9B-0DFA99A8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91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V3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D891E-F189-44BF-886F-C3A48448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9720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Tokenised productivity rewards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33E7C-7DB9-4E1B-811D-E332E002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924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C4F82A"/>
                </a:solidFill>
              </a:defRPr>
            </a:pPr>
            <a:r>
              <a:rPr sz="1650" b="1">
                <a:solidFill>
                  <a:srgbClr val="C4F82A"/>
                </a:solidFill>
              </a:rPr>
              <a:t>Quoril Pulse</a:t>
            </a:r>
          </a:p>
        </p:txBody>
      </p:sp>
    </p:spTree>
    <p:extLst>
      <p:ext uri="{BB962C8B-B14F-4D97-AF65-F5344CB8AC3E}">
        <p14:creationId xmlns:p14="http://schemas.microsoft.com/office/powerpoint/2010/main" val="2111149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114300" dir="5400000">
              <a:srgbClr val="000000">
                <a:alpha val="2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2026-07-06T07:25:37.8380000Z</dcterms:created>
  <dcterms:modified xsi:type="dcterms:W3CDTF">2026-07-06T07:25:37.8380000Z</dcterms:modified>
</coreProperties>
</file>