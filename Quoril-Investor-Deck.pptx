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178308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ctr" indent="0" marL="0">
              <a:buNone/>
            </a:pPr>
            <a:r>
              <a:rPr lang="en-US" sz="9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200" dirty="0"/>
          </a:p>
        </p:txBody>
      </p:sp>
      <p:sp>
        <p:nvSpPr>
          <p:cNvPr id="4" name="Text 2"/>
          <p:cNvSpPr/>
          <p:nvPr/>
        </p:nvSpPr>
        <p:spPr>
          <a:xfrm>
            <a:off x="1463040" y="3246120"/>
            <a:ext cx="9265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productivity OS for deep work — from your desk to your whole org.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463040" y="3950208"/>
            <a:ext cx="9265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building the tool we wished existed — and we'd love your guidance.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78070" y="48920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1151C"/>
          </a:solidFill>
          <a:ln w="12700">
            <a:solidFill>
              <a:srgbClr val="333B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78070" y="48920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OVERVIEW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552590" y="48920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1151C"/>
          </a:solidFill>
          <a:ln w="12700">
            <a:solidFill>
              <a:srgbClr val="333B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2590" y="48920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0" y="5413248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 by </a:t>
            </a:r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Mohan Sai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Jaya Sai Srikar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Akanksh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for discussion purposes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started with our own lost hours.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three builders. Like everyone we know, our days leaked away across a to-do app, a timer, a notes tool and a dozen browser tabs — and by evening we couldn't say where the time went. </a:t>
            </a:r>
            <a:pPr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tools meant to help us focus were the ones fragmenting our attention.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58368" y="3977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only gets worse with scale: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one person can't see where their time goes, a whole organization has no chance.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0" y="1783080"/>
            <a:ext cx="4675327" cy="1325880"/>
          </a:xfrm>
          <a:prstGeom prst="roundRect">
            <a:avLst>
              <a:gd name="adj" fmla="val 7586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32320" y="20574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194560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54112" y="2039112"/>
            <a:ext cx="34866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that doesn't talk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754112" y="2532888"/>
            <a:ext cx="34866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tools, none sharing context.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858000" y="3310128"/>
            <a:ext cx="4675327" cy="1325880"/>
          </a:xfrm>
          <a:prstGeom prst="roundRect">
            <a:avLst>
              <a:gd name="adj" fmla="val 7586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132320" y="358444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3721608"/>
            <a:ext cx="182880" cy="1828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54112" y="3566160"/>
            <a:ext cx="34866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can't improve what you can't see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7754112" y="4059936"/>
            <a:ext cx="34866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honest picture of where time actually goes.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858000" y="4837176"/>
            <a:ext cx="4675327" cy="1325880"/>
          </a:xfrm>
          <a:prstGeom prst="roundRect">
            <a:avLst>
              <a:gd name="adj" fmla="val 7586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132320" y="5111496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5248656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754112" y="5093208"/>
            <a:ext cx="34866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 fly blind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7754112" y="5586984"/>
            <a:ext cx="34866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one can answer “what's actually getting done?”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86868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can't say it in one line, we don't have a solution yet. Here's ours: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417320"/>
            <a:ext cx="1087495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00"/>
              </a:lnSpc>
              <a:buNone/>
            </a:pPr>
            <a:r>
              <a:rPr lang="en-US" sz="31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 helps you </a:t>
            </a:r>
            <a:pPr indent="0" marL="0">
              <a:lnSpc>
                <a:spcPts val="3700"/>
              </a:lnSpc>
              <a:buNone/>
            </a:pPr>
            <a:r>
              <a:rPr lang="en-US" sz="31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plan, focus, and see where your time really goes</a:t>
            </a:r>
            <a:pPr indent="0" marL="0">
              <a:lnSpc>
                <a:spcPts val="3700"/>
              </a:lnSpc>
              <a:buNone/>
            </a:pPr>
            <a:r>
              <a:rPr lang="en-US" sz="31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then gives your whole org an </a:t>
            </a:r>
            <a:pPr indent="0" marL="0">
              <a:lnSpc>
                <a:spcPts val="3700"/>
              </a:lnSpc>
              <a:buNone/>
            </a:pPr>
            <a:r>
              <a:rPr lang="en-US" sz="31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always knows the status.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58368" y="3703320"/>
            <a:ext cx="2513000" cy="1783080"/>
          </a:xfrm>
          <a:prstGeom prst="roundRect">
            <a:avLst>
              <a:gd name="adj" fmla="val 5641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397764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046" y="4120286"/>
            <a:ext cx="190195" cy="19019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4599432"/>
            <a:ext cx="205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4965192"/>
            <a:ext cx="205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Kanban + spatial canvas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445688" y="3703320"/>
            <a:ext cx="2513000" cy="1783080"/>
          </a:xfrm>
          <a:prstGeom prst="roundRect">
            <a:avLst>
              <a:gd name="adj" fmla="val 5641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701720" y="397764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8DEF">
              <a:alpha val="16000"/>
            </a:srgbClr>
          </a:solidFill>
          <a:ln w="12700">
            <a:solidFill>
              <a:srgbClr val="5B8DEF">
                <a:alpha val="45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366" y="4120286"/>
            <a:ext cx="190195" cy="19019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701720" y="4599432"/>
            <a:ext cx="205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3701720" y="4965192"/>
            <a:ext cx="205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Deep-work engine &amp; pill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33008" y="3703320"/>
            <a:ext cx="2513000" cy="1783080"/>
          </a:xfrm>
          <a:prstGeom prst="roundRect">
            <a:avLst>
              <a:gd name="adj" fmla="val 5641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89040" y="397764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45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686" y="4120286"/>
            <a:ext cx="190195" cy="19019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89040" y="4599432"/>
            <a:ext cx="205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6489040" y="4965192"/>
            <a:ext cx="205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app &amp; web tracking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9020327" y="3703320"/>
            <a:ext cx="2513000" cy="1783080"/>
          </a:xfrm>
          <a:prstGeom prst="roundRect">
            <a:avLst>
              <a:gd name="adj" fmla="val 5641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76359" y="397764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DD4A7">
              <a:alpha val="16000"/>
            </a:srgbClr>
          </a:solidFill>
          <a:ln w="12700">
            <a:solidFill>
              <a:srgbClr val="2DD4A7">
                <a:alpha val="45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9006" y="4120286"/>
            <a:ext cx="190195" cy="19019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276359" y="4599432"/>
            <a:ext cx="205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9276359" y="4965192"/>
            <a:ext cx="205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AI insights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3226232" y="42062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013552" y="42062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8800871" y="42062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658368" y="566928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place for the whole loop — offline-first, and private by default.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real — and it's already shipping.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58368" y="178308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55" y="1909267"/>
            <a:ext cx="168250" cy="1682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25296" y="1764792"/>
            <a:ext cx="4919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25296" y="2057400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Kanban board + a spatial canvas you can share with your team.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58368" y="269748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8DEF">
              <a:alpha val="16000"/>
            </a:srgbClr>
          </a:solidFill>
          <a:ln w="12700">
            <a:solidFill>
              <a:srgbClr val="5B8DEF">
                <a:alpha val="4500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" y="2823667"/>
            <a:ext cx="168250" cy="1682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25296" y="2679192"/>
            <a:ext cx="4919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25296" y="2971800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deep-work engine, Pomodoro, and an always-on focus pill.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58368" y="361188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45000"/>
              </a:srgbClr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" y="3738067"/>
            <a:ext cx="168250" cy="16825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25296" y="3593592"/>
            <a:ext cx="4919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25296" y="3886200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app &amp; website tracking — no manual timers to start.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58368" y="452628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DD4A7">
              <a:alpha val="16000"/>
            </a:srgbClr>
          </a:solidFill>
          <a:ln w="12700">
            <a:solidFill>
              <a:srgbClr val="2DD4A7">
                <a:alpha val="45000"/>
              </a:srgbClr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" y="4652467"/>
            <a:ext cx="168250" cy="16825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25296" y="4507992"/>
            <a:ext cx="4919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25296" y="4800600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and AI-generated insights that tell you what to change.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658368" y="5394960"/>
            <a:ext cx="2834640" cy="310896"/>
          </a:xfrm>
          <a:prstGeom prst="roundRect">
            <a:avLst>
              <a:gd name="adj" fmla="val 50000"/>
            </a:avLst>
          </a:prstGeom>
          <a:solidFill>
            <a:srgbClr val="11151C"/>
          </a:solidFill>
          <a:ln w="12700">
            <a:solidFill>
              <a:srgbClr val="333B48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58368" y="53949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· WINDOWS · MACOS · LINUX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6537960" y="1737360"/>
            <a:ext cx="4995367" cy="4160520"/>
          </a:xfrm>
          <a:prstGeom prst="roundRect">
            <a:avLst>
              <a:gd name="adj" fmla="val 2418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6858000" y="1993392"/>
            <a:ext cx="43552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TIME · TODAY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949440" y="3042666"/>
            <a:ext cx="298369" cy="432054"/>
          </a:xfrm>
          <a:prstGeom prst="roundRect">
            <a:avLst>
              <a:gd name="adj" fmla="val 9194"/>
            </a:avLst>
          </a:prstGeom>
          <a:solidFill>
            <a:srgbClr val="333B48"/>
          </a:solidFill>
          <a:ln/>
        </p:spPr>
      </p:sp>
      <p:sp>
        <p:nvSpPr>
          <p:cNvPr id="27" name="Shape 21"/>
          <p:cNvSpPr/>
          <p:nvPr/>
        </p:nvSpPr>
        <p:spPr>
          <a:xfrm>
            <a:off x="7375825" y="2795778"/>
            <a:ext cx="298369" cy="678942"/>
          </a:xfrm>
          <a:prstGeom prst="roundRect">
            <a:avLst>
              <a:gd name="adj" fmla="val 9194"/>
            </a:avLst>
          </a:prstGeom>
          <a:solidFill>
            <a:srgbClr val="333B48"/>
          </a:solidFill>
          <a:ln/>
        </p:spPr>
      </p:sp>
      <p:sp>
        <p:nvSpPr>
          <p:cNvPr id="28" name="Shape 22"/>
          <p:cNvSpPr/>
          <p:nvPr/>
        </p:nvSpPr>
        <p:spPr>
          <a:xfrm>
            <a:off x="7802209" y="2956255"/>
            <a:ext cx="298369" cy="518465"/>
          </a:xfrm>
          <a:prstGeom prst="roundRect">
            <a:avLst>
              <a:gd name="adj" fmla="val 9194"/>
            </a:avLst>
          </a:prstGeom>
          <a:solidFill>
            <a:srgbClr val="333B48"/>
          </a:solidFill>
          <a:ln/>
        </p:spPr>
      </p:sp>
      <p:sp>
        <p:nvSpPr>
          <p:cNvPr id="29" name="Shape 23"/>
          <p:cNvSpPr/>
          <p:nvPr/>
        </p:nvSpPr>
        <p:spPr>
          <a:xfrm>
            <a:off x="8228594" y="2585923"/>
            <a:ext cx="298369" cy="888797"/>
          </a:xfrm>
          <a:prstGeom prst="roundRect">
            <a:avLst>
              <a:gd name="adj" fmla="val 9194"/>
            </a:avLst>
          </a:prstGeom>
          <a:solidFill>
            <a:srgbClr val="333B48"/>
          </a:solidFill>
          <a:ln/>
        </p:spPr>
      </p:sp>
      <p:sp>
        <p:nvSpPr>
          <p:cNvPr id="30" name="Shape 24"/>
          <p:cNvSpPr/>
          <p:nvPr/>
        </p:nvSpPr>
        <p:spPr>
          <a:xfrm>
            <a:off x="8654979" y="2302002"/>
            <a:ext cx="298369" cy="1172718"/>
          </a:xfrm>
          <a:prstGeom prst="roundRect">
            <a:avLst>
              <a:gd name="adj" fmla="val 9194"/>
            </a:avLst>
          </a:prstGeom>
          <a:solidFill>
            <a:srgbClr val="C6F24D"/>
          </a:solidFill>
          <a:ln/>
        </p:spPr>
      </p:sp>
      <p:sp>
        <p:nvSpPr>
          <p:cNvPr id="31" name="Shape 25"/>
          <p:cNvSpPr/>
          <p:nvPr/>
        </p:nvSpPr>
        <p:spPr>
          <a:xfrm>
            <a:off x="9081364" y="2734056"/>
            <a:ext cx="298369" cy="740664"/>
          </a:xfrm>
          <a:prstGeom prst="roundRect">
            <a:avLst>
              <a:gd name="adj" fmla="val 9194"/>
            </a:avLst>
          </a:prstGeom>
          <a:solidFill>
            <a:srgbClr val="333B48"/>
          </a:solidFill>
          <a:ln/>
        </p:spPr>
      </p:sp>
      <p:sp>
        <p:nvSpPr>
          <p:cNvPr id="32" name="Shape 26"/>
          <p:cNvSpPr/>
          <p:nvPr/>
        </p:nvSpPr>
        <p:spPr>
          <a:xfrm>
            <a:off x="9507748" y="2906878"/>
            <a:ext cx="298369" cy="567842"/>
          </a:xfrm>
          <a:prstGeom prst="roundRect">
            <a:avLst>
              <a:gd name="adj" fmla="val 9194"/>
            </a:avLst>
          </a:prstGeom>
          <a:solidFill>
            <a:srgbClr val="333B48"/>
          </a:solidFill>
          <a:ln/>
        </p:spPr>
      </p:sp>
      <p:sp>
        <p:nvSpPr>
          <p:cNvPr id="33" name="Shape 27"/>
          <p:cNvSpPr/>
          <p:nvPr/>
        </p:nvSpPr>
        <p:spPr>
          <a:xfrm>
            <a:off x="9934133" y="2635301"/>
            <a:ext cx="298369" cy="839419"/>
          </a:xfrm>
          <a:prstGeom prst="roundRect">
            <a:avLst>
              <a:gd name="adj" fmla="val 9194"/>
            </a:avLst>
          </a:prstGeom>
          <a:solidFill>
            <a:srgbClr val="333B48"/>
          </a:solidFill>
          <a:ln/>
        </p:spPr>
      </p:sp>
      <p:sp>
        <p:nvSpPr>
          <p:cNvPr id="34" name="Shape 28"/>
          <p:cNvSpPr/>
          <p:nvPr/>
        </p:nvSpPr>
        <p:spPr>
          <a:xfrm>
            <a:off x="10360518" y="3030322"/>
            <a:ext cx="298369" cy="444398"/>
          </a:xfrm>
          <a:prstGeom prst="roundRect">
            <a:avLst>
              <a:gd name="adj" fmla="val 9194"/>
            </a:avLst>
          </a:prstGeom>
          <a:solidFill>
            <a:srgbClr val="333B48"/>
          </a:solidFill>
          <a:ln/>
        </p:spPr>
      </p:sp>
      <p:sp>
        <p:nvSpPr>
          <p:cNvPr id="35" name="Shape 29"/>
          <p:cNvSpPr/>
          <p:nvPr/>
        </p:nvSpPr>
        <p:spPr>
          <a:xfrm>
            <a:off x="10786902" y="2832811"/>
            <a:ext cx="298369" cy="641909"/>
          </a:xfrm>
          <a:prstGeom prst="roundRect">
            <a:avLst>
              <a:gd name="adj" fmla="val 9194"/>
            </a:avLst>
          </a:prstGeom>
          <a:solidFill>
            <a:srgbClr val="333B48"/>
          </a:solidFill>
          <a:ln/>
        </p:spPr>
      </p:sp>
      <p:sp>
        <p:nvSpPr>
          <p:cNvPr id="36" name="Text 30"/>
          <p:cNvSpPr/>
          <p:nvPr/>
        </p:nvSpPr>
        <p:spPr>
          <a:xfrm>
            <a:off x="6903720" y="37947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6.2h</a:t>
            </a:r>
            <a:endParaRPr lang="en-US" sz="2600" dirty="0"/>
          </a:p>
        </p:txBody>
      </p:sp>
      <p:sp>
        <p:nvSpPr>
          <p:cNvPr id="37" name="Text 31"/>
          <p:cNvSpPr/>
          <p:nvPr/>
        </p:nvSpPr>
        <p:spPr>
          <a:xfrm>
            <a:off x="6903720" y="44165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8275320" y="3794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2600" dirty="0"/>
          </a:p>
        </p:txBody>
      </p:sp>
      <p:sp>
        <p:nvSpPr>
          <p:cNvPr id="39" name="Text 33"/>
          <p:cNvSpPr/>
          <p:nvPr/>
        </p:nvSpPr>
        <p:spPr>
          <a:xfrm>
            <a:off x="8275320" y="44165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40" name="Text 34"/>
          <p:cNvSpPr/>
          <p:nvPr/>
        </p:nvSpPr>
        <p:spPr>
          <a:xfrm>
            <a:off x="10104120" y="37947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600" dirty="0"/>
          </a:p>
        </p:txBody>
      </p:sp>
      <p:sp>
        <p:nvSpPr>
          <p:cNvPr id="41" name="Text 35"/>
          <p:cNvSpPr/>
          <p:nvPr/>
        </p:nvSpPr>
        <p:spPr>
          <a:xfrm>
            <a:off x="10104120" y="44165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6903720" y="5239512"/>
            <a:ext cx="4263847" cy="457200"/>
          </a:xfrm>
          <a:prstGeom prst="roundRect">
            <a:avLst>
              <a:gd name="adj" fmla="val 50000"/>
            </a:avLst>
          </a:prstGeom>
          <a:solidFill>
            <a:srgbClr val="11151C"/>
          </a:solidFill>
          <a:ln w="12700">
            <a:solidFill>
              <a:srgbClr val="333B48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7178040" y="5239512"/>
            <a:ext cx="3898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Writing report</a:t>
            </a:r>
            <a:pPr indent="0" marL="0">
              <a:buNone/>
            </a:pPr>
            <a:r>
              <a:rPr lang="en-US" sz="12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24:18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goes: Quoril </a:t>
            </a:r>
            <a:pPr indent="0" marL="0">
              <a:buNone/>
            </a:pPr>
            <a:r>
              <a:rPr lang="en-US" sz="29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58368" y="160020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loop, scaled to a whole organization: everyone from IC to CEO in one system, with a Pulse AI that always knows the status.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58368" y="3108960"/>
            <a:ext cx="402336" cy="402336"/>
          </a:xfrm>
          <a:prstGeom prst="roundRect">
            <a:avLst>
              <a:gd name="adj" fmla="val 20455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69" y="3229661"/>
            <a:ext cx="160934" cy="1609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30906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anything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207008" y="33649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“What's blocking the launch?” — answered live, across every team.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3977640"/>
            <a:ext cx="402336" cy="402336"/>
          </a:xfrm>
          <a:prstGeom prst="roundRect">
            <a:avLst>
              <a:gd name="adj" fmla="val 20455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69" y="4098341"/>
            <a:ext cx="160934" cy="1609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07008" y="39593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by asking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1207008" y="42336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and assign tasks in plain English; nothing gets lost.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58368" y="4846320"/>
            <a:ext cx="402336" cy="402336"/>
          </a:xfrm>
          <a:prstGeom prst="roundRect">
            <a:avLst>
              <a:gd name="adj" fmla="val 20455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069" y="4967021"/>
            <a:ext cx="160934" cy="1609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48280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Meetings → tasks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207008" y="51023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 AI reads transcripts and updates the plan automatically.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46520" y="1600200"/>
            <a:ext cx="5086807" cy="4297680"/>
          </a:xfrm>
          <a:prstGeom prst="roundRect">
            <a:avLst>
              <a:gd name="adj" fmla="val 2340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6766560" y="1828800"/>
            <a:ext cx="44467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</a:t>
            </a:r>
            <a:pPr indent="0" marL="0"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766560" y="2258568"/>
            <a:ext cx="4446727" cy="0"/>
          </a:xfrm>
          <a:prstGeom prst="line">
            <a:avLst/>
          </a:prstGeom>
          <a:noFill/>
          <a:ln w="12700">
            <a:solidFill>
              <a:srgbClr val="242A3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909560" y="2468880"/>
            <a:ext cx="3258007" cy="548640"/>
          </a:xfrm>
          <a:prstGeom prst="roundRect">
            <a:avLst>
              <a:gd name="adj" fmla="val 23333"/>
            </a:avLst>
          </a:prstGeom>
          <a:solidFill>
            <a:srgbClr val="11151C"/>
          </a:solidFill>
          <a:ln w="12700">
            <a:solidFill>
              <a:srgbClr val="333B48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046720" y="2468880"/>
            <a:ext cx="29836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blocking the product launch?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766560" y="3200400"/>
            <a:ext cx="3806647" cy="1828800"/>
          </a:xfrm>
          <a:prstGeom prst="roundRect">
            <a:avLst>
              <a:gd name="adj" fmla="val 7000"/>
            </a:avLst>
          </a:prstGeom>
          <a:solidFill>
            <a:srgbClr val="141A24"/>
          </a:solidFill>
          <a:ln w="12700">
            <a:solidFill>
              <a:srgbClr val="C6F24D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995160" y="3383280"/>
            <a:ext cx="334944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blockers on Launch (Aug 12):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review — unassigned in Backend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Pricing page — overdue 2d, owner: Aisha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of 5 workstreams on track. Assign it?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766560" y="5330952"/>
            <a:ext cx="4446727" cy="457200"/>
          </a:xfrm>
          <a:prstGeom prst="roundRect">
            <a:avLst>
              <a:gd name="adj" fmla="val 50000"/>
            </a:avLst>
          </a:prstGeom>
          <a:solidFill>
            <a:srgbClr val="11151C"/>
          </a:solidFill>
          <a:ln w="12700">
            <a:solidFill>
              <a:srgbClr val="333B48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995160" y="5330952"/>
            <a:ext cx="38066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Pulse AI…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10820095" y="5372100"/>
            <a:ext cx="365760" cy="365760"/>
          </a:xfrm>
          <a:prstGeom prst="ellipse">
            <a:avLst/>
          </a:prstGeom>
          <a:solidFill>
            <a:srgbClr val="C6F24D"/>
          </a:solidFill>
          <a:ln/>
        </p:spPr>
      </p:sp>
      <p:sp>
        <p:nvSpPr>
          <p:cNvPr id="29" name="Text 24"/>
          <p:cNvSpPr/>
          <p:nvPr/>
        </p:nvSpPr>
        <p:spPr>
          <a:xfrm>
            <a:off x="10820095" y="5349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big can this get?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58368" y="1737360"/>
            <a:ext cx="5212080" cy="1234440"/>
          </a:xfrm>
          <a:prstGeom prst="roundRect">
            <a:avLst>
              <a:gd name="adj" fmla="val 8148"/>
            </a:avLst>
          </a:prstGeom>
          <a:solidFill>
            <a:srgbClr val="0F131A"/>
          </a:solidFill>
          <a:ln w="12700">
            <a:solidFill>
              <a:srgbClr val="333B4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GLOBAL PRODUCTIVITY &amp; COLLABORATION SOFTWARE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$115B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041648" y="23957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ceiling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78408" y="3108960"/>
            <a:ext cx="4572000" cy="1234440"/>
          </a:xfrm>
          <a:prstGeom prst="roundRect">
            <a:avLst>
              <a:gd name="adj" fmla="val 8148"/>
            </a:avLst>
          </a:prstGeom>
          <a:solidFill>
            <a:srgbClr val="0F131A"/>
          </a:solidFill>
          <a:ln w="12700">
            <a:solidFill>
              <a:srgbClr val="333B4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234440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DESKTOP FOCUS, TRACKING &amp; TEAM PLANNING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34440" y="3657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$12B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1298448" y="4480560"/>
            <a:ext cx="3931920" cy="1234440"/>
          </a:xfrm>
          <a:prstGeom prst="roundRect">
            <a:avLst>
              <a:gd name="adj" fmla="val 8148"/>
            </a:avLst>
          </a:prstGeom>
          <a:solidFill>
            <a:srgbClr val="0F131A"/>
          </a:solidFill>
          <a:ln w="12700">
            <a:solidFill>
              <a:srgbClr val="C6F24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554480" y="4663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3-YR OBTAINABLE (PRO + PULSE SEATS)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554480" y="5029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$60M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401568" y="51389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floor we're aiming at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766560" y="1737360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LAND-AND-EXPAND MOTION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66560" y="2148840"/>
            <a:ext cx="4766767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1728"/>
              </a:lnSpc>
              <a:spcAft>
                <a:spcPts val="120"/>
              </a:spcAft>
              <a:buSzPct val="100000"/>
              <a:buChar char="▪"/>
            </a:pPr>
            <a:r>
              <a:rPr lang="en-US" sz="13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Floor: a realistic slice of individuals paying for Pro.</a:t>
            </a:r>
            <a:endParaRPr lang="en-US" sz="1350" dirty="0"/>
          </a:p>
          <a:p>
            <a:pPr marL="203200" indent="-203200">
              <a:lnSpc>
                <a:spcPts val="1728"/>
              </a:lnSpc>
              <a:spcAft>
                <a:spcPts val="120"/>
              </a:spcAft>
              <a:buSzPct val="100000"/>
              <a:buChar char="▪"/>
            </a:pPr>
            <a:r>
              <a:rPr lang="en-US" sz="13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Ceiling: every knowledge worker + every org running on Pulse.</a:t>
            </a:r>
            <a:endParaRPr lang="en-US" sz="1350" dirty="0"/>
          </a:p>
          <a:p>
            <a:pPr marL="203200" indent="-203200">
              <a:lnSpc>
                <a:spcPts val="1728"/>
              </a:lnSpc>
              <a:spcAft>
                <a:spcPts val="120"/>
              </a:spcAft>
              <a:buSzPct val="100000"/>
              <a:buChar char="▪"/>
            </a:pPr>
            <a:r>
              <a:rPr lang="en-US" sz="13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land bottom-up with the free app, then expand into teams.</a:t>
            </a:r>
            <a:endParaRPr lang="en-US" sz="1350" dirty="0"/>
          </a:p>
          <a:p>
            <a:pPr marL="203200" indent="-203200">
              <a:lnSpc>
                <a:spcPts val="1728"/>
              </a:lnSpc>
              <a:spcAft>
                <a:spcPts val="120"/>
              </a:spcAft>
              <a:buSzPct val="100000"/>
              <a:buChar char="▪"/>
            </a:pPr>
            <a:r>
              <a:rPr lang="en-US" sz="13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 re-rates us from a prosumer tool to an org platform.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766560" y="4892040"/>
            <a:ext cx="47667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figures are directional estimates for discussion, triangulated from public productivity-software sizing; not audited.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make money — kept simple.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58368" y="1965960"/>
            <a:ext cx="3417722" cy="2880360"/>
          </a:xfrm>
          <a:prstGeom prst="roundRect">
            <a:avLst>
              <a:gd name="adj" fmla="val 3492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9264" y="2258568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9264" y="2679192"/>
            <a:ext cx="28690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969264" y="3447288"/>
            <a:ext cx="2795930" cy="0"/>
          </a:xfrm>
          <a:prstGeom prst="line">
            <a:avLst/>
          </a:prstGeom>
          <a:noFill/>
          <a:ln w="12700">
            <a:solidFill>
              <a:srgbClr val="242A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3630168"/>
            <a:ext cx="27959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desktop app. Builds the habit and our top of funnel.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6986" y="1965960"/>
            <a:ext cx="3417722" cy="2880360"/>
          </a:xfrm>
          <a:prstGeom prst="roundRect">
            <a:avLst>
              <a:gd name="adj" fmla="val 3492"/>
            </a:avLst>
          </a:prstGeom>
          <a:solidFill>
            <a:srgbClr val="0F131A"/>
          </a:solidFill>
          <a:ln w="12700">
            <a:solidFill>
              <a:srgbClr val="C6F24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7882" y="2258568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7882" y="2679192"/>
            <a:ext cx="28690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</a:t>
            </a:r>
            <a:pPr indent="0" marL="0">
              <a:buNone/>
            </a:pPr>
            <a:r>
              <a:rPr lang="en-US" sz="14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697882" y="3447288"/>
            <a:ext cx="2795930" cy="0"/>
          </a:xfrm>
          <a:prstGeom prst="line">
            <a:avLst/>
          </a:prstGeom>
          <a:noFill/>
          <a:ln w="12700">
            <a:solidFill>
              <a:srgbClr val="242A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7882" y="3630168"/>
            <a:ext cx="27959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insights, cloud sync &amp; integrations. Our individual revenue.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15605" y="1965960"/>
            <a:ext cx="3417722" cy="2880360"/>
          </a:xfrm>
          <a:prstGeom prst="roundRect">
            <a:avLst>
              <a:gd name="adj" fmla="val 3492"/>
            </a:avLst>
          </a:prstGeom>
          <a:solidFill>
            <a:srgbClr val="0F131A"/>
          </a:solidFill>
          <a:ln w="12700">
            <a:solidFill>
              <a:srgbClr val="5B8DE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26501" y="2258568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26501" y="2679192"/>
            <a:ext cx="28690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seat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8426501" y="3447288"/>
            <a:ext cx="2795930" cy="0"/>
          </a:xfrm>
          <a:prstGeom prst="line">
            <a:avLst/>
          </a:prstGeom>
          <a:noFill/>
          <a:ln w="12700">
            <a:solidFill>
              <a:srgbClr val="242A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26501" y="3630168"/>
            <a:ext cx="27959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org platform with Pulse AI. Our biggest, expanding revenue.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512064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logic:  </a:t>
            </a:r>
            <a:pPr algn="ctr" indent="0" marL="0">
              <a:buNone/>
            </a:pPr>
            <a:r>
              <a:rPr lang="en-US" sz="1400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habit brings people in, Pro pays the bills, and Pulse is where it becomes a real business.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— but the demand is real.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58368" y="1783080"/>
            <a:ext cx="3246120" cy="3794760"/>
          </a:xfrm>
          <a:prstGeom prst="roundRect">
            <a:avLst>
              <a:gd name="adj" fmla="val 3099"/>
            </a:avLst>
          </a:prstGeom>
          <a:solidFill>
            <a:srgbClr val="0F131A"/>
          </a:solidFill>
          <a:ln w="12700">
            <a:solidFill>
              <a:srgbClr val="C6F24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WAITLIST SIGNUPS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60120" y="2542032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1,200+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978408" y="35661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climbing — with no paid marketing.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78408" y="42976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people raising their hand before we've even launched.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15384" y="1783080"/>
            <a:ext cx="7317943" cy="1170432"/>
          </a:xfrm>
          <a:prstGeom prst="roundRect">
            <a:avLst>
              <a:gd name="adj" fmla="val 8594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20574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350" y="2200046"/>
            <a:ext cx="190195" cy="19019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111496" y="2020824"/>
            <a:ext cx="6129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organically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111496" y="2423160"/>
            <a:ext cx="61292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waitlist is climbing through word of mouth, not ad spend.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15384" y="3090672"/>
            <a:ext cx="7317943" cy="1170432"/>
          </a:xfrm>
          <a:prstGeom prst="roundRect">
            <a:avLst>
              <a:gd name="adj" fmla="val 8594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489704" y="336499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350" y="3507638"/>
            <a:ext cx="190195" cy="19019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111496" y="3328416"/>
            <a:ext cx="6129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actually use it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5111496" y="3730752"/>
            <a:ext cx="61292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testers rely on Quoril daily — not just signups sitting idle.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215384" y="4398264"/>
            <a:ext cx="7317943" cy="1170432"/>
          </a:xfrm>
          <a:prstGeom prst="roundRect">
            <a:avLst>
              <a:gd name="adj" fmla="val 8594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489704" y="4672584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350" y="4815230"/>
            <a:ext cx="190195" cy="19019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111496" y="4636008"/>
            <a:ext cx="6129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Inbound, not outbound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5111496" y="5038344"/>
            <a:ext cx="61292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Individuals and teams are reaching out, asking to try it.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4215384" y="5724144"/>
            <a:ext cx="73179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strongest signal of all:  </a:t>
            </a:r>
            <a:pPr indent="0" marL="0">
              <a:buNone/>
            </a:pPr>
            <a:r>
              <a:rPr lang="en-US" sz="12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already built and shipped the product — proof this problem was worth years of our lives.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reach our next 1,000 users.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58368" y="1783080"/>
            <a:ext cx="3417722" cy="2651760"/>
          </a:xfrm>
          <a:prstGeom prst="roundRect">
            <a:avLst>
              <a:gd name="adj" fmla="val 3793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20391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62858" y="2020824"/>
            <a:ext cx="438912" cy="438912"/>
          </a:xfrm>
          <a:prstGeom prst="roundRect">
            <a:avLst>
              <a:gd name="adj" fmla="val 18750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4532" y="2152498"/>
            <a:ext cx="175565" cy="17556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32688" y="2404872"/>
            <a:ext cx="28690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the waitlist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932688" y="3017520"/>
            <a:ext cx="286908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1,200+ people already raised their hand. Onboard them well and turn them into daily users — and advocates.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86986" y="1783080"/>
            <a:ext cx="3417722" cy="2651760"/>
          </a:xfrm>
          <a:prstGeom prst="roundRect">
            <a:avLst>
              <a:gd name="adj" fmla="val 3793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661306" y="20391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091477" y="2020824"/>
            <a:ext cx="438912" cy="438912"/>
          </a:xfrm>
          <a:prstGeom prst="roundRect">
            <a:avLst>
              <a:gd name="adj" fmla="val 18750"/>
            </a:avLst>
          </a:prstGeom>
          <a:solidFill>
            <a:srgbClr val="5B8DEF">
              <a:alpha val="16000"/>
            </a:srgbClr>
          </a:solidFill>
          <a:ln w="12700">
            <a:solidFill>
              <a:srgbClr val="5B8DEF">
                <a:alpha val="45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150" y="2152498"/>
            <a:ext cx="175565" cy="17556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61306" y="2404872"/>
            <a:ext cx="28690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deep-work crowd</a:t>
            </a:r>
            <a:endParaRPr lang="en-US" sz="1650" dirty="0"/>
          </a:p>
        </p:txBody>
      </p:sp>
      <p:sp>
        <p:nvSpPr>
          <p:cNvPr id="17" name="Text 13"/>
          <p:cNvSpPr/>
          <p:nvPr/>
        </p:nvSpPr>
        <p:spPr>
          <a:xfrm>
            <a:off x="4661306" y="3017520"/>
            <a:ext cx="286908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SEO on focus, Pomodoro and digital minimalism; launch on Product Hunt, Reddit, X and student/builder communities.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115605" y="1783080"/>
            <a:ext cx="3417722" cy="2651760"/>
          </a:xfrm>
          <a:prstGeom prst="roundRect">
            <a:avLst>
              <a:gd name="adj" fmla="val 3793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389925" y="20391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10820095" y="2020824"/>
            <a:ext cx="438912" cy="438912"/>
          </a:xfrm>
          <a:prstGeom prst="roundRect">
            <a:avLst>
              <a:gd name="adj" fmla="val 18750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45000"/>
              </a:srgbClr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1769" y="2152498"/>
            <a:ext cx="175565" cy="17556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89925" y="2404872"/>
            <a:ext cx="28690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users pull in others</a:t>
            </a:r>
            <a:endParaRPr lang="en-US" sz="1650" dirty="0"/>
          </a:p>
        </p:txBody>
      </p:sp>
      <p:sp>
        <p:nvSpPr>
          <p:cNvPr id="23" name="Text 18"/>
          <p:cNvSpPr/>
          <p:nvPr/>
        </p:nvSpPr>
        <p:spPr>
          <a:xfrm>
            <a:off x="8389925" y="3017520"/>
            <a:ext cx="286908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 canvases and referrals — every shared board is an invite to a teammate, seeding the path to Pulse.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58368" y="4709160"/>
            <a:ext cx="10874959" cy="914400"/>
          </a:xfrm>
          <a:prstGeom prst="roundRect">
            <a:avLst>
              <a:gd name="adj" fmla="val 11000"/>
            </a:avLst>
          </a:prstGeom>
          <a:solidFill>
            <a:srgbClr val="141A24"/>
          </a:solidFill>
          <a:ln w="12700">
            <a:solidFill>
              <a:srgbClr val="333B4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1024128" y="4709160"/>
            <a:ext cx="101434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works: 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people with this problem are already searching for a fix — so they're cheap to reach and quick to convert.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not alone — here's how we win.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795528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864608" y="1737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601968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TODOIST / THINGS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842248" y="1737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RESCUETIME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671048" y="17373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RIZE / TOGGL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176272"/>
            <a:ext cx="10874959" cy="0"/>
          </a:xfrm>
          <a:prstGeom prst="line">
            <a:avLst/>
          </a:prstGeom>
          <a:noFill/>
          <a:ln w="12700">
            <a:solidFill>
              <a:srgbClr val="333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194560"/>
            <a:ext cx="10874959" cy="457200"/>
          </a:xfrm>
          <a:prstGeom prst="rect">
            <a:avLst/>
          </a:prstGeom>
          <a:solidFill>
            <a:srgbClr val="0F131A">
              <a:alpha val="6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" y="21945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Kanban + spatial canvas planning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864608" y="21945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01968" y="21945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42248" y="2194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671048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95528" y="26517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Deep-work focus engine + Pomodoro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64608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01968" y="2651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42248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671048" y="26517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3108960"/>
            <a:ext cx="10874959" cy="457200"/>
          </a:xfrm>
          <a:prstGeom prst="rect">
            <a:avLst/>
          </a:prstGeom>
          <a:solidFill>
            <a:srgbClr val="0F131A">
              <a:alpha val="6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95528" y="3108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app &amp; website tracking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64608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601968" y="3108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842248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71048" y="31089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95528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insights &amp; reports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864608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601968" y="3566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842248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671048" y="35661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58368" y="4023360"/>
            <a:ext cx="10874959" cy="457200"/>
          </a:xfrm>
          <a:prstGeom prst="rect">
            <a:avLst/>
          </a:prstGeom>
          <a:solidFill>
            <a:srgbClr val="0F131A">
              <a:alpha val="6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95528" y="4023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collaboration on plans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864608" y="4023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01968" y="4023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842248" y="4023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671048" y="40233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95528" y="44805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Offline-first, on-device privacy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4864608" y="44805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01968" y="44805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842248" y="4480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671048" y="4480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solidFill>
            <a:srgbClr val="0F131A">
              <a:alpha val="65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49377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layer with an AI you can ask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4864608" y="4937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601968" y="4937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842248" y="4937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671048" y="49377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58368" y="5504688"/>
            <a:ext cx="10874959" cy="749808"/>
          </a:xfrm>
          <a:prstGeom prst="roundRect">
            <a:avLst>
              <a:gd name="adj" fmla="val 13415"/>
            </a:avLst>
          </a:prstGeom>
          <a:solidFill>
            <a:srgbClr val="141A24"/>
          </a:solidFill>
          <a:ln w="12700">
            <a:solidFill>
              <a:srgbClr val="333B4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1024128" y="5504688"/>
            <a:ext cx="101434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moat: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loop in one native, private app — and an org-AI layer no point tool can bolt on. Integration is the advantage.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us.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58368" y="1783080"/>
            <a:ext cx="3417722" cy="1874520"/>
          </a:xfrm>
          <a:prstGeom prst="roundRect">
            <a:avLst>
              <a:gd name="adj" fmla="val 5366"/>
            </a:avLst>
          </a:prstGeom>
          <a:solidFill>
            <a:srgbClr val="141A24"/>
          </a:solidFill>
          <a:ln w="12700">
            <a:solidFill>
              <a:srgbClr val="333B4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64309" y="2057400"/>
            <a:ext cx="1005840" cy="1005840"/>
          </a:xfrm>
          <a:prstGeom prst="ellipse">
            <a:avLst/>
          </a:prstGeom>
          <a:solidFill>
            <a:srgbClr val="C6F24D"/>
          </a:solidFill>
          <a:ln/>
        </p:spPr>
      </p:sp>
      <p:sp>
        <p:nvSpPr>
          <p:cNvPr id="8" name="Text 6"/>
          <p:cNvSpPr/>
          <p:nvPr/>
        </p:nvSpPr>
        <p:spPr>
          <a:xfrm>
            <a:off x="1864309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3118104"/>
            <a:ext cx="341772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Mohan Sai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429000"/>
            <a:ext cx="34177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CO-FOUNDER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6986" y="1783080"/>
            <a:ext cx="3417722" cy="1874520"/>
          </a:xfrm>
          <a:prstGeom prst="roundRect">
            <a:avLst>
              <a:gd name="adj" fmla="val 5366"/>
            </a:avLst>
          </a:prstGeom>
          <a:solidFill>
            <a:srgbClr val="141A24"/>
          </a:solidFill>
          <a:ln w="12700">
            <a:solidFill>
              <a:srgbClr val="333B4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/>
          <p:nvPr/>
        </p:nvSpPr>
        <p:spPr>
          <a:xfrm>
            <a:off x="5592928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86986" y="3118104"/>
            <a:ext cx="341772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Jaya Sai Srikar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86986" y="3429000"/>
            <a:ext cx="34177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CO-FOUNDER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5605" y="1783080"/>
            <a:ext cx="3417722" cy="1874520"/>
          </a:xfrm>
          <a:prstGeom prst="roundRect">
            <a:avLst>
              <a:gd name="adj" fmla="val 5366"/>
            </a:avLst>
          </a:prstGeom>
          <a:solidFill>
            <a:srgbClr val="141A24"/>
          </a:solidFill>
          <a:ln w="12700">
            <a:solidFill>
              <a:srgbClr val="333B4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321546" y="2057400"/>
            <a:ext cx="1005840" cy="10058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8" name="Text 16"/>
          <p:cNvSpPr/>
          <p:nvPr/>
        </p:nvSpPr>
        <p:spPr>
          <a:xfrm>
            <a:off x="9321546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115605" y="3118104"/>
            <a:ext cx="341772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Akanksh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15605" y="3429000"/>
            <a:ext cx="34177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CO-FOUNDER &amp; COO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3950208"/>
            <a:ext cx="10874959" cy="1600200"/>
          </a:xfrm>
          <a:prstGeom prst="roundRect">
            <a:avLst>
              <a:gd name="adj" fmla="val 6286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24128" y="4206240"/>
            <a:ext cx="10143439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1728"/>
              </a:lnSpc>
              <a:spcAft>
                <a:spcPts val="100"/>
              </a:spcAft>
              <a:buSzPct val="100000"/>
              <a:buChar char="▪"/>
            </a:pPr>
            <a:r>
              <a:rPr lang="en-US" sz="13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lived this problem — Quoril is the tool we wished existed, built for ourselves first.</a:t>
            </a:r>
            <a:endParaRPr lang="en-US" sz="1350" dirty="0"/>
          </a:p>
          <a:p>
            <a:pPr marL="203200" indent="-203200">
              <a:lnSpc>
                <a:spcPts val="1728"/>
              </a:lnSpc>
              <a:spcAft>
                <a:spcPts val="100"/>
              </a:spcAft>
              <a:buSzPct val="100000"/>
              <a:buChar char="▪"/>
            </a:pPr>
            <a:r>
              <a:rPr lang="en-US" sz="13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just pitch it: we shipped a hard, cross-platform product before raising a rupee.</a:t>
            </a:r>
            <a:endParaRPr lang="en-US" sz="1350" dirty="0"/>
          </a:p>
          <a:p>
            <a:pPr marL="203200" indent="-203200">
              <a:lnSpc>
                <a:spcPts val="1728"/>
              </a:lnSpc>
              <a:spcAft>
                <a:spcPts val="100"/>
              </a:spcAft>
              <a:buSzPct val="100000"/>
              <a:buChar char="▪"/>
            </a:pPr>
            <a:r>
              <a:rPr lang="en-US" sz="13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obsessed and here for the long haul — this is what we'll be doing in five years, with or without a cheque. The right people beside us just get us there faster.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GULF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30"/>
              </a:lnSpc>
              <a:buNone/>
            </a:pPr>
            <a:r>
              <a:rPr lang="en-US" sz="26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Gulf is building the future of work. We want to build it there.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874520"/>
            <a:ext cx="3417722" cy="2697480"/>
          </a:xfrm>
          <a:prstGeom prst="roundRect">
            <a:avLst>
              <a:gd name="adj" fmla="val 3729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167128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" y="2309774"/>
            <a:ext cx="190195" cy="19019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07208"/>
            <a:ext cx="28690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knowledge economy in overdrive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932688" y="3465576"/>
            <a:ext cx="28690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visions — Qatar 2030, Kuwait 2035, the UAE's D33 — are pouring capital into talent, digital and productivity.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6986" y="1874520"/>
            <a:ext cx="3417722" cy="2697480"/>
          </a:xfrm>
          <a:prstGeom prst="roundRect">
            <a:avLst>
              <a:gd name="adj" fmla="val 3729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1306" y="2167128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953" y="2309774"/>
            <a:ext cx="190195" cy="19019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1306" y="2807208"/>
            <a:ext cx="28690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&amp; enterprise appetite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661306" y="3465576"/>
            <a:ext cx="28690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Ambitious digital-transformation agendas make Pulse's org-level AI a natural fit for ministries and large employers.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15605" y="1874520"/>
            <a:ext cx="3417722" cy="2697480"/>
          </a:xfrm>
          <a:prstGeom prst="roundRect">
            <a:avLst>
              <a:gd name="adj" fmla="val 3729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89925" y="2167128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2571" y="2309774"/>
            <a:ext cx="190195" cy="19019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89925" y="2807208"/>
            <a:ext cx="28690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hub to scale from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389925" y="3465576"/>
            <a:ext cx="28690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World-class infrastructure, deep capital, and founder-friendly free zones and visas — a base to serve MENA and beyond.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58368" y="4828032"/>
            <a:ext cx="10874959" cy="822960"/>
          </a:xfrm>
          <a:prstGeom prst="roundRect">
            <a:avLst>
              <a:gd name="adj" fmla="val 12222"/>
            </a:avLst>
          </a:prstGeom>
          <a:solidFill>
            <a:srgbClr val="141A24"/>
          </a:solidFill>
          <a:ln w="12700">
            <a:solidFill>
              <a:srgbClr val="333B4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1024128" y="4828032"/>
            <a:ext cx="101434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right local champion,  </a:t>
            </a:r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Gulf isn't just a market — it's where Quoril puts down roots.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CAN HELP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Quoril</a:t>
            </a:r>
            <a:pPr algn="l" indent="0" marL="0">
              <a:buNone/>
            </a:pPr>
            <a:r>
              <a:rPr lang="en-US" sz="12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11535" y="63550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looking for a mentor who becomes a champion.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Quoril resonates, here's where your experience would change our trajectory.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2651760"/>
            <a:ext cx="3417722" cy="2194560"/>
          </a:xfrm>
          <a:prstGeom prst="roundRect">
            <a:avLst>
              <a:gd name="adj" fmla="val 4583"/>
            </a:avLst>
          </a:prstGeom>
          <a:solidFill>
            <a:srgbClr val="0F131A"/>
          </a:solidFill>
          <a:ln w="12700">
            <a:solidFill>
              <a:srgbClr val="C6F24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2688" y="29260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C6F24D">
              <a:alpha val="16000"/>
            </a:srgbClr>
          </a:solidFill>
          <a:ln w="12700">
            <a:solidFill>
              <a:srgbClr val="C6F24D">
                <a:alpha val="45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3063240"/>
            <a:ext cx="182880" cy="1828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27048" y="2926080"/>
            <a:ext cx="2320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32688" y="3547872"/>
            <a:ext cx="286908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 advice from someone who has built and scaled in the region — ideally hands-on, as an advisor to Quoril.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86986" y="2651760"/>
            <a:ext cx="3417722" cy="2194560"/>
          </a:xfrm>
          <a:prstGeom prst="roundRect">
            <a:avLst>
              <a:gd name="adj" fmla="val 4583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61306" y="29260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5B8DEF">
              <a:alpha val="16000"/>
            </a:srgbClr>
          </a:solidFill>
          <a:ln w="12700">
            <a:solidFill>
              <a:srgbClr val="5B8DEF">
                <a:alpha val="45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466" y="3063240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55666" y="2926080"/>
            <a:ext cx="2320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661306" y="3547872"/>
            <a:ext cx="286908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introductions to the enterprises, government entities and ecosystem partners where Quoril belongs.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15605" y="2651760"/>
            <a:ext cx="3417722" cy="2194560"/>
          </a:xfrm>
          <a:prstGeom prst="roundRect">
            <a:avLst>
              <a:gd name="adj" fmla="val 4583"/>
            </a:avLst>
          </a:prstGeom>
          <a:solidFill>
            <a:srgbClr val="0F131A"/>
          </a:solidFill>
          <a:ln w="12700">
            <a:solidFill>
              <a:srgbClr val="242A3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89925" y="29260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45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7085" y="3063240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84285" y="2926080"/>
            <a:ext cx="2320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home in the Gulf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8389925" y="3547872"/>
            <a:ext cx="286908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us make the region Quoril's base as we grow — and, when the time is right, back the journey.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58368" y="5138928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not chasing a quick check — we're looking for the right person to build this with.</a:t>
            </a:r>
            <a:endParaRPr lang="en-US" sz="1900" dirty="0"/>
          </a:p>
        </p:txBody>
      </p:sp>
      <p:sp>
        <p:nvSpPr>
          <p:cNvPr id="23" name="Text 18"/>
          <p:cNvSpPr/>
          <p:nvPr/>
        </p:nvSpPr>
        <p:spPr>
          <a:xfrm>
            <a:off x="658368" y="5687568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Mohan Sai  ·  Jaya Sai Srikar  ·  Akanksh   ·   </a:t>
            </a:r>
            <a:pPr algn="ctr" indent="0" marL="0">
              <a:buNone/>
            </a:pPr>
            <a:r>
              <a:rPr lang="en-US" sz="1300" b="1" dirty="0">
                <a:solidFill>
                  <a:srgbClr val="C6F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hello@quoril.com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Quoril — Overview</dc:title>
  <dc:subject>PptxGenJS Presentation</dc:subject>
  <dc:creator>Quoril</dc:creator>
  <cp:lastModifiedBy>Quoril</cp:lastModifiedBy>
  <cp:revision>1</cp:revision>
  <dcterms:created xsi:type="dcterms:W3CDTF">2026-07-07T21:02:23Z</dcterms:created>
  <dcterms:modified xsi:type="dcterms:W3CDTF">2026-07-07T21:02:23Z</dcterms:modified>
</cp:coreProperties>
</file>