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Quoril</a:t>
            </a:r>
            <a:pPr algn="l" indent="0" marL="0">
              <a:buNone/>
            </a:pPr>
            <a:r>
              <a:rPr lang="en-US" sz="1200" b="1" dirty="0">
                <a:solidFill>
                  <a:srgbClr val="C6F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0" y="1874520"/>
            <a:ext cx="121916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F4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Quoril</a:t>
            </a:r>
            <a:pPr algn="ctr" indent="0" marL="0">
              <a:buNone/>
            </a:pPr>
            <a:r>
              <a:rPr lang="en-US" sz="9600" b="1" dirty="0">
                <a:solidFill>
                  <a:srgbClr val="C6F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1463040" y="3429000"/>
            <a:ext cx="92656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000" dirty="0">
                <a:solidFill>
                  <a:srgbClr val="F4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productivity OS for deep work — from your desk to your whole org.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463040" y="4224528"/>
            <a:ext cx="92656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BA1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Plan, focus, and measure your work — then let Pulse AI run the org.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977640" y="4983480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11151C"/>
          </a:solidFill>
          <a:ln w="12700">
            <a:solidFill>
              <a:srgbClr val="333B4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977640" y="4983480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20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INVESTOR DECK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532120" y="4983480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11151C"/>
          </a:solidFill>
          <a:ln w="12700">
            <a:solidFill>
              <a:srgbClr val="333B4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32120" y="498348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20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SEED · 2026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995160" y="4983480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11151C"/>
          </a:solidFill>
          <a:ln w="12700">
            <a:solidFill>
              <a:srgbClr val="333B4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995160" y="498348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200" kern="0" dirty="0">
                <a:solidFill>
                  <a:srgbClr val="C6F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BY ERIK VALE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0" y="6355080"/>
            <a:ext cx="12191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— for discussion purposes</a:t>
            </a:r>
            <a:endParaRPr lang="en-US" sz="1100" dirty="0"/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57200"/>
            <a:ext cx="10874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6F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Quoril</a:t>
            </a:r>
            <a:pPr algn="l" indent="0" marL="0">
              <a:buNone/>
            </a:pPr>
            <a:r>
              <a:rPr lang="en-US" sz="1200" b="1" dirty="0">
                <a:solidFill>
                  <a:srgbClr val="C6F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911535" y="635508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58368" y="768096"/>
            <a:ext cx="1087495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940"/>
              </a:lnSpc>
              <a:buNone/>
            </a:pPr>
            <a:r>
              <a:rPr lang="en-US" sz="2800" b="1" dirty="0">
                <a:solidFill>
                  <a:srgbClr val="F4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is fragmented — for the individual and the organization.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58368" y="1874520"/>
            <a:ext cx="3417722" cy="2148840"/>
          </a:xfrm>
          <a:prstGeom prst="roundRect">
            <a:avLst>
              <a:gd name="adj" fmla="val 4681"/>
            </a:avLst>
          </a:prstGeom>
          <a:solidFill>
            <a:srgbClr val="0F131A"/>
          </a:solidFill>
          <a:ln w="12700">
            <a:solidFill>
              <a:srgbClr val="242A35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32688" y="2167128"/>
            <a:ext cx="502920" cy="502920"/>
          </a:xfrm>
          <a:prstGeom prst="roundRect">
            <a:avLst>
              <a:gd name="adj" fmla="val 16364"/>
            </a:avLst>
          </a:prstGeom>
          <a:solidFill>
            <a:srgbClr val="C6F24D">
              <a:alpha val="16000"/>
            </a:srgbClr>
          </a:solidFill>
          <a:ln w="12700">
            <a:solidFill>
              <a:srgbClr val="C6F24D">
                <a:alpha val="45000"/>
              </a:srgbClr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564" y="2318004"/>
            <a:ext cx="201168" cy="2011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32688" y="2807208"/>
            <a:ext cx="286908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650" b="1" dirty="0">
                <a:solidFill>
                  <a:srgbClr val="F4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stack that doesn't talk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932688" y="3355848"/>
            <a:ext cx="286908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9BA1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to-do app, a timer, a screen-time tracker, a whiteboard, a chat tool — glued together, none sharing context.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386986" y="1874520"/>
            <a:ext cx="3417722" cy="2148840"/>
          </a:xfrm>
          <a:prstGeom prst="roundRect">
            <a:avLst>
              <a:gd name="adj" fmla="val 4681"/>
            </a:avLst>
          </a:prstGeom>
          <a:solidFill>
            <a:srgbClr val="0F131A"/>
          </a:solidFill>
          <a:ln w="12700">
            <a:solidFill>
              <a:srgbClr val="242A35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4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61306" y="2167128"/>
            <a:ext cx="502920" cy="502920"/>
          </a:xfrm>
          <a:prstGeom prst="roundRect">
            <a:avLst>
              <a:gd name="adj" fmla="val 16364"/>
            </a:avLst>
          </a:prstGeom>
          <a:solidFill>
            <a:srgbClr val="C6F24D">
              <a:alpha val="16000"/>
            </a:srgbClr>
          </a:solidFill>
          <a:ln w="12700">
            <a:solidFill>
              <a:srgbClr val="C6F24D">
                <a:alpha val="45000"/>
              </a:srgbClr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2182" y="2318004"/>
            <a:ext cx="201168" cy="20116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661306" y="2807208"/>
            <a:ext cx="286908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650" b="1" dirty="0">
                <a:solidFill>
                  <a:srgbClr val="F4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real visibility</a:t>
            </a:r>
            <a:endParaRPr lang="en-US" sz="1650" dirty="0"/>
          </a:p>
        </p:txBody>
      </p:sp>
      <p:sp>
        <p:nvSpPr>
          <p:cNvPr id="15" name="Text 11"/>
          <p:cNvSpPr/>
          <p:nvPr/>
        </p:nvSpPr>
        <p:spPr>
          <a:xfrm>
            <a:off x="4661306" y="3355848"/>
            <a:ext cx="286908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9BA1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task managers can't see what you actually do on your machine, so “productivity” is guesswork.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8115605" y="1874520"/>
            <a:ext cx="3417722" cy="2148840"/>
          </a:xfrm>
          <a:prstGeom prst="roundRect">
            <a:avLst>
              <a:gd name="adj" fmla="val 4681"/>
            </a:avLst>
          </a:prstGeom>
          <a:solidFill>
            <a:srgbClr val="0F131A"/>
          </a:solidFill>
          <a:ln w="12700">
            <a:solidFill>
              <a:srgbClr val="242A35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4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389925" y="2167128"/>
            <a:ext cx="502920" cy="502920"/>
          </a:xfrm>
          <a:prstGeom prst="roundRect">
            <a:avLst>
              <a:gd name="adj" fmla="val 16364"/>
            </a:avLst>
          </a:prstGeom>
          <a:solidFill>
            <a:srgbClr val="C6F24D">
              <a:alpha val="16000"/>
            </a:srgbClr>
          </a:solidFill>
          <a:ln w="12700">
            <a:solidFill>
              <a:srgbClr val="C6F24D">
                <a:alpha val="45000"/>
              </a:srgbClr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40801" y="2318004"/>
            <a:ext cx="201168" cy="20116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389925" y="2807208"/>
            <a:ext cx="286908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650" b="1" dirty="0">
                <a:solidFill>
                  <a:srgbClr val="F4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Leaders fly blind</a:t>
            </a:r>
            <a:endParaRPr lang="en-US" sz="1650" dirty="0"/>
          </a:p>
        </p:txBody>
      </p:sp>
      <p:sp>
        <p:nvSpPr>
          <p:cNvPr id="20" name="Text 15"/>
          <p:cNvSpPr/>
          <p:nvPr/>
        </p:nvSpPr>
        <p:spPr>
          <a:xfrm>
            <a:off x="8389925" y="3355848"/>
            <a:ext cx="286908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9BA1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Execs can't answer “what's actually happening?” without chasing status updates across teams and tools.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658368" y="4334256"/>
            <a:ext cx="10874959" cy="960120"/>
          </a:xfrm>
          <a:prstGeom prst="roundRect">
            <a:avLst>
              <a:gd name="adj" fmla="val 10476"/>
            </a:avLst>
          </a:prstGeom>
          <a:solidFill>
            <a:srgbClr val="141A24"/>
          </a:solidFill>
          <a:ln w="12700">
            <a:solidFill>
              <a:srgbClr val="333B4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4000"/>
              </a:srgbClr>
            </a:outerShdw>
          </a:effectLst>
        </p:spPr>
      </p:sp>
      <p:sp>
        <p:nvSpPr>
          <p:cNvPr id="22" name="Text 17"/>
          <p:cNvSpPr/>
          <p:nvPr/>
        </p:nvSpPr>
        <p:spPr>
          <a:xfrm>
            <a:off x="1024128" y="4334256"/>
            <a:ext cx="1014343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C6F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cost:  </a:t>
            </a:r>
            <a:pPr indent="0" marL="0">
              <a:lnSpc>
                <a:spcPts val="2100"/>
              </a:lnSpc>
              <a:buNone/>
            </a:pPr>
            <a:r>
              <a:rPr lang="en-US" sz="1600" dirty="0">
                <a:solidFill>
                  <a:srgbClr val="F4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 plan work in one place, do it in another, and no one — from IC to CEO — can see where the time truly goes.</a:t>
            </a:r>
            <a:endParaRPr lang="en-US" sz="1600" dirty="0"/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57200"/>
            <a:ext cx="10874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6F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Quoril</a:t>
            </a:r>
            <a:pPr algn="l" indent="0" marL="0">
              <a:buNone/>
            </a:pPr>
            <a:r>
              <a:rPr lang="en-US" sz="1200" b="1" dirty="0">
                <a:solidFill>
                  <a:srgbClr val="C6F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911535" y="635508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58368" y="768096"/>
            <a:ext cx="1087495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35"/>
              </a:lnSpc>
              <a:buNone/>
            </a:pPr>
            <a:r>
              <a:rPr lang="en-US" sz="2700" b="1" dirty="0">
                <a:solidFill>
                  <a:srgbClr val="F4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command center for focused work — that scales into the org.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658368" y="1572768"/>
            <a:ext cx="6492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9BA1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Quoril unifies planning, deep work, and measurement in a single native, offline-first app. The same loop that makes an individual sharper becomes the nervous system of an entire company.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58368" y="2880360"/>
            <a:ext cx="2513000" cy="1737360"/>
          </a:xfrm>
          <a:prstGeom prst="roundRect">
            <a:avLst>
              <a:gd name="adj" fmla="val 5789"/>
            </a:avLst>
          </a:prstGeom>
          <a:solidFill>
            <a:srgbClr val="0F131A"/>
          </a:solidFill>
          <a:ln w="12700">
            <a:solidFill>
              <a:srgbClr val="242A35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4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14400" y="3154680"/>
            <a:ext cx="475488" cy="475488"/>
          </a:xfrm>
          <a:prstGeom prst="roundRect">
            <a:avLst>
              <a:gd name="adj" fmla="val 17308"/>
            </a:avLst>
          </a:prstGeom>
          <a:solidFill>
            <a:srgbClr val="C6F24D">
              <a:alpha val="16000"/>
            </a:srgbClr>
          </a:solidFill>
          <a:ln w="12700">
            <a:solidFill>
              <a:srgbClr val="C6F24D">
                <a:alpha val="45000"/>
              </a:srgbClr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046" y="3297326"/>
            <a:ext cx="190195" cy="190195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14400" y="3758184"/>
            <a:ext cx="205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6F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914400" y="4123944"/>
            <a:ext cx="205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BA1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Kanban + spatial canvas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445688" y="2880360"/>
            <a:ext cx="2513000" cy="1737360"/>
          </a:xfrm>
          <a:prstGeom prst="roundRect">
            <a:avLst>
              <a:gd name="adj" fmla="val 5789"/>
            </a:avLst>
          </a:prstGeom>
          <a:solidFill>
            <a:srgbClr val="0F131A"/>
          </a:solidFill>
          <a:ln w="12700">
            <a:solidFill>
              <a:srgbClr val="242A35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4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701720" y="3154680"/>
            <a:ext cx="475488" cy="475488"/>
          </a:xfrm>
          <a:prstGeom prst="roundRect">
            <a:avLst>
              <a:gd name="adj" fmla="val 17308"/>
            </a:avLst>
          </a:prstGeom>
          <a:solidFill>
            <a:srgbClr val="5B8DEF">
              <a:alpha val="16000"/>
            </a:srgbClr>
          </a:solidFill>
          <a:ln w="12700">
            <a:solidFill>
              <a:srgbClr val="5B8DEF">
                <a:alpha val="45000"/>
              </a:srgbClr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4366" y="3297326"/>
            <a:ext cx="190195" cy="190195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701720" y="3758184"/>
            <a:ext cx="205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B8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3701720" y="4123944"/>
            <a:ext cx="205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BA1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Deep-work engine &amp; pill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6233008" y="2880360"/>
            <a:ext cx="2513000" cy="1737360"/>
          </a:xfrm>
          <a:prstGeom prst="roundRect">
            <a:avLst>
              <a:gd name="adj" fmla="val 5789"/>
            </a:avLst>
          </a:prstGeom>
          <a:solidFill>
            <a:srgbClr val="0F131A"/>
          </a:solidFill>
          <a:ln w="12700">
            <a:solidFill>
              <a:srgbClr val="242A35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4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489040" y="3154680"/>
            <a:ext cx="475488" cy="475488"/>
          </a:xfrm>
          <a:prstGeom prst="roundRect">
            <a:avLst>
              <a:gd name="adj" fmla="val 17308"/>
            </a:avLst>
          </a:prstGeom>
          <a:solidFill>
            <a:srgbClr val="F5A623">
              <a:alpha val="16000"/>
            </a:srgbClr>
          </a:solidFill>
          <a:ln w="12700">
            <a:solidFill>
              <a:srgbClr val="F5A623">
                <a:alpha val="45000"/>
              </a:srgbClr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1686" y="3297326"/>
            <a:ext cx="190195" cy="190195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489040" y="3758184"/>
            <a:ext cx="205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</a:t>
            </a:r>
            <a:endParaRPr lang="en-US" sz="1700" dirty="0"/>
          </a:p>
        </p:txBody>
      </p:sp>
      <p:sp>
        <p:nvSpPr>
          <p:cNvPr id="21" name="Text 16"/>
          <p:cNvSpPr/>
          <p:nvPr/>
        </p:nvSpPr>
        <p:spPr>
          <a:xfrm>
            <a:off x="6489040" y="4123944"/>
            <a:ext cx="205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BA1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app &amp; web tracking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9020327" y="2880360"/>
            <a:ext cx="2513000" cy="1737360"/>
          </a:xfrm>
          <a:prstGeom prst="roundRect">
            <a:avLst>
              <a:gd name="adj" fmla="val 5789"/>
            </a:avLst>
          </a:prstGeom>
          <a:solidFill>
            <a:srgbClr val="0F131A"/>
          </a:solidFill>
          <a:ln w="12700">
            <a:solidFill>
              <a:srgbClr val="242A35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4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9276359" y="3154680"/>
            <a:ext cx="475488" cy="475488"/>
          </a:xfrm>
          <a:prstGeom prst="roundRect">
            <a:avLst>
              <a:gd name="adj" fmla="val 17308"/>
            </a:avLst>
          </a:prstGeom>
          <a:solidFill>
            <a:srgbClr val="2DD4A7">
              <a:alpha val="16000"/>
            </a:srgbClr>
          </a:solidFill>
          <a:ln w="12700">
            <a:solidFill>
              <a:srgbClr val="2DD4A7">
                <a:alpha val="45000"/>
              </a:srgbClr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19006" y="3297326"/>
            <a:ext cx="190195" cy="190195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276359" y="3758184"/>
            <a:ext cx="205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DD4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Reflect</a:t>
            </a:r>
            <a:endParaRPr lang="en-US" sz="1700" dirty="0"/>
          </a:p>
        </p:txBody>
      </p:sp>
      <p:sp>
        <p:nvSpPr>
          <p:cNvPr id="26" name="Text 20"/>
          <p:cNvSpPr/>
          <p:nvPr/>
        </p:nvSpPr>
        <p:spPr>
          <a:xfrm>
            <a:off x="9276359" y="4123944"/>
            <a:ext cx="205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BA1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Reports &amp; AI insights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3226232" y="3383280"/>
            <a:ext cx="16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8" name="Text 22"/>
          <p:cNvSpPr/>
          <p:nvPr/>
        </p:nvSpPr>
        <p:spPr>
          <a:xfrm>
            <a:off x="6013552" y="3383280"/>
            <a:ext cx="16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9" name="Text 23"/>
          <p:cNvSpPr/>
          <p:nvPr/>
        </p:nvSpPr>
        <p:spPr>
          <a:xfrm>
            <a:off x="8800871" y="3383280"/>
            <a:ext cx="16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30" name="Shape 24"/>
          <p:cNvSpPr/>
          <p:nvPr/>
        </p:nvSpPr>
        <p:spPr>
          <a:xfrm>
            <a:off x="658368" y="4910328"/>
            <a:ext cx="10874959" cy="841248"/>
          </a:xfrm>
          <a:prstGeom prst="roundRect">
            <a:avLst>
              <a:gd name="adj" fmla="val 11957"/>
            </a:avLst>
          </a:prstGeom>
          <a:solidFill>
            <a:srgbClr val="141A24"/>
          </a:solidFill>
          <a:ln w="12700">
            <a:solidFill>
              <a:srgbClr val="333B4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4000"/>
              </a:srgbClr>
            </a:outerShdw>
          </a:effectLst>
        </p:spPr>
      </p:sp>
      <p:sp>
        <p:nvSpPr>
          <p:cNvPr id="31" name="Text 25"/>
          <p:cNvSpPr/>
          <p:nvPr/>
        </p:nvSpPr>
        <p:spPr>
          <a:xfrm>
            <a:off x="1024128" y="4910328"/>
            <a:ext cx="10143439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C6F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Individual → Team → Org.  </a:t>
            </a:r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F4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free on the desktop, grow into </a:t>
            </a:r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F4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Quoril Pulse</a:t>
            </a:r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F4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the AI org layer where leaders simply ask what's happening.</a:t>
            </a:r>
            <a:endParaRPr lang="en-US" sz="1500" dirty="0"/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57200"/>
            <a:ext cx="10874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6F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PRODUCT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Quoril</a:t>
            </a:r>
            <a:pPr algn="l" indent="0" marL="0">
              <a:buNone/>
            </a:pPr>
            <a:r>
              <a:rPr lang="en-US" sz="1200" b="1" dirty="0">
                <a:solidFill>
                  <a:srgbClr val="C6F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911535" y="635508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58368" y="768096"/>
            <a:ext cx="1087495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35"/>
              </a:lnSpc>
              <a:buNone/>
            </a:pPr>
            <a:r>
              <a:rPr lang="en-US" sz="2700" b="1" dirty="0">
                <a:solidFill>
                  <a:srgbClr val="F4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another to-do list. An operating system for attention.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58368" y="1783080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C6F24D">
              <a:alpha val="16000"/>
            </a:srgbClr>
          </a:solidFill>
          <a:ln w="12700">
            <a:solidFill>
              <a:srgbClr val="C6F24D">
                <a:alpha val="45000"/>
              </a:srgbClr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555" y="1909267"/>
            <a:ext cx="168250" cy="16825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25296" y="1764792"/>
            <a:ext cx="4919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4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Kanban that thinks in time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1225296" y="2057400"/>
            <a:ext cx="4919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10"/>
              </a:lnSpc>
              <a:buNone/>
            </a:pPr>
            <a:r>
              <a:rPr lang="en-US" sz="1150" dirty="0">
                <a:solidFill>
                  <a:srgbClr val="9BA1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Backlog → This Week → Today → Done, with auto-parsed estimates, subtasks &amp; priorities.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58368" y="2715768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5B8DEF">
              <a:alpha val="16000"/>
            </a:srgbClr>
          </a:solidFill>
          <a:ln w="12700">
            <a:solidFill>
              <a:srgbClr val="5B8DEF">
                <a:alpha val="45000"/>
              </a:srgbClr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555" y="2841955"/>
            <a:ext cx="168250" cy="16825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225296" y="2697480"/>
            <a:ext cx="4919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4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Deep-work focus engine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1225296" y="2990088"/>
            <a:ext cx="4919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10"/>
              </a:lnSpc>
              <a:buNone/>
            </a:pPr>
            <a:r>
              <a:rPr lang="en-US" sz="1150" dirty="0">
                <a:solidFill>
                  <a:srgbClr val="9BA1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Full-screen mode, Pomodoro, and a frameless always-on-top focus pill over every app.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58368" y="3648456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F5A623">
              <a:alpha val="16000"/>
            </a:srgbClr>
          </a:solidFill>
          <a:ln w="12700">
            <a:solidFill>
              <a:srgbClr val="F5A623">
                <a:alpha val="45000"/>
              </a:srgbClr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" y="3774643"/>
            <a:ext cx="168250" cy="16825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225296" y="3630168"/>
            <a:ext cx="4919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4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app &amp; website tracking</a:t>
            </a:r>
            <a:endParaRPr lang="en-US" sz="1450" dirty="0"/>
          </a:p>
        </p:txBody>
      </p:sp>
      <p:sp>
        <p:nvSpPr>
          <p:cNvPr id="17" name="Text 12"/>
          <p:cNvSpPr/>
          <p:nvPr/>
        </p:nvSpPr>
        <p:spPr>
          <a:xfrm>
            <a:off x="1225296" y="3922776"/>
            <a:ext cx="4919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10"/>
              </a:lnSpc>
              <a:buNone/>
            </a:pPr>
            <a:r>
              <a:rPr lang="en-US" sz="1150" dirty="0">
                <a:solidFill>
                  <a:srgbClr val="9BA1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background engine reads the active window and classifies 20+ categories and top sites.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658368" y="4581144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2DD4A7">
              <a:alpha val="16000"/>
            </a:srgbClr>
          </a:solidFill>
          <a:ln w="12700">
            <a:solidFill>
              <a:srgbClr val="2DD4A7">
                <a:alpha val="45000"/>
              </a:srgbClr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4555" y="4707331"/>
            <a:ext cx="168250" cy="16825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225296" y="4562856"/>
            <a:ext cx="4919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4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Offline-first, private by default</a:t>
            </a:r>
            <a:endParaRPr lang="en-US" sz="1450" dirty="0"/>
          </a:p>
        </p:txBody>
      </p:sp>
      <p:sp>
        <p:nvSpPr>
          <p:cNvPr id="21" name="Text 15"/>
          <p:cNvSpPr/>
          <p:nvPr/>
        </p:nvSpPr>
        <p:spPr>
          <a:xfrm>
            <a:off x="1225296" y="4855464"/>
            <a:ext cx="4919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10"/>
              </a:lnSpc>
              <a:buNone/>
            </a:pPr>
            <a:r>
              <a:rPr lang="en-US" sz="1150" dirty="0">
                <a:solidFill>
                  <a:srgbClr val="9BA1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write hits local SQLite instantly; raw activity stays on your machine, syncs when online.</a:t>
            </a:r>
            <a:endParaRPr lang="en-US" sz="1150" dirty="0"/>
          </a:p>
        </p:txBody>
      </p:sp>
      <p:sp>
        <p:nvSpPr>
          <p:cNvPr id="22" name="Shape 16"/>
          <p:cNvSpPr/>
          <p:nvPr/>
        </p:nvSpPr>
        <p:spPr>
          <a:xfrm>
            <a:off x="6537960" y="1737360"/>
            <a:ext cx="4995367" cy="4160520"/>
          </a:xfrm>
          <a:prstGeom prst="roundRect">
            <a:avLst>
              <a:gd name="adj" fmla="val 2418"/>
            </a:avLst>
          </a:prstGeom>
          <a:solidFill>
            <a:srgbClr val="0F131A"/>
          </a:solidFill>
          <a:ln w="12700">
            <a:solidFill>
              <a:srgbClr val="242A35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4000"/>
              </a:srgbClr>
            </a:outerShdw>
          </a:effectLst>
        </p:spPr>
      </p:sp>
      <p:sp>
        <p:nvSpPr>
          <p:cNvPr id="23" name="Text 17"/>
          <p:cNvSpPr/>
          <p:nvPr/>
        </p:nvSpPr>
        <p:spPr>
          <a:xfrm>
            <a:off x="6858000" y="1993392"/>
            <a:ext cx="43552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TIME · TODAY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6949440" y="3042666"/>
            <a:ext cx="298369" cy="432054"/>
          </a:xfrm>
          <a:prstGeom prst="roundRect">
            <a:avLst>
              <a:gd name="adj" fmla="val 9194"/>
            </a:avLst>
          </a:prstGeom>
          <a:solidFill>
            <a:srgbClr val="333B48"/>
          </a:solidFill>
          <a:ln/>
        </p:spPr>
      </p:sp>
      <p:sp>
        <p:nvSpPr>
          <p:cNvPr id="25" name="Shape 19"/>
          <p:cNvSpPr/>
          <p:nvPr/>
        </p:nvSpPr>
        <p:spPr>
          <a:xfrm>
            <a:off x="7375825" y="2795778"/>
            <a:ext cx="298369" cy="678942"/>
          </a:xfrm>
          <a:prstGeom prst="roundRect">
            <a:avLst>
              <a:gd name="adj" fmla="val 9194"/>
            </a:avLst>
          </a:prstGeom>
          <a:solidFill>
            <a:srgbClr val="333B48"/>
          </a:solidFill>
          <a:ln/>
        </p:spPr>
      </p:sp>
      <p:sp>
        <p:nvSpPr>
          <p:cNvPr id="26" name="Shape 20"/>
          <p:cNvSpPr/>
          <p:nvPr/>
        </p:nvSpPr>
        <p:spPr>
          <a:xfrm>
            <a:off x="7802209" y="2956255"/>
            <a:ext cx="298369" cy="518465"/>
          </a:xfrm>
          <a:prstGeom prst="roundRect">
            <a:avLst>
              <a:gd name="adj" fmla="val 9194"/>
            </a:avLst>
          </a:prstGeom>
          <a:solidFill>
            <a:srgbClr val="333B48"/>
          </a:solidFill>
          <a:ln/>
        </p:spPr>
      </p:sp>
      <p:sp>
        <p:nvSpPr>
          <p:cNvPr id="27" name="Shape 21"/>
          <p:cNvSpPr/>
          <p:nvPr/>
        </p:nvSpPr>
        <p:spPr>
          <a:xfrm>
            <a:off x="8228594" y="2585923"/>
            <a:ext cx="298369" cy="888797"/>
          </a:xfrm>
          <a:prstGeom prst="roundRect">
            <a:avLst>
              <a:gd name="adj" fmla="val 9194"/>
            </a:avLst>
          </a:prstGeom>
          <a:solidFill>
            <a:srgbClr val="333B48"/>
          </a:solidFill>
          <a:ln/>
        </p:spPr>
      </p:sp>
      <p:sp>
        <p:nvSpPr>
          <p:cNvPr id="28" name="Shape 22"/>
          <p:cNvSpPr/>
          <p:nvPr/>
        </p:nvSpPr>
        <p:spPr>
          <a:xfrm>
            <a:off x="8654979" y="2302002"/>
            <a:ext cx="298369" cy="1172718"/>
          </a:xfrm>
          <a:prstGeom prst="roundRect">
            <a:avLst>
              <a:gd name="adj" fmla="val 9194"/>
            </a:avLst>
          </a:prstGeom>
          <a:solidFill>
            <a:srgbClr val="C6F24D"/>
          </a:solidFill>
          <a:ln/>
        </p:spPr>
      </p:sp>
      <p:sp>
        <p:nvSpPr>
          <p:cNvPr id="29" name="Shape 23"/>
          <p:cNvSpPr/>
          <p:nvPr/>
        </p:nvSpPr>
        <p:spPr>
          <a:xfrm>
            <a:off x="9081364" y="2734056"/>
            <a:ext cx="298369" cy="740664"/>
          </a:xfrm>
          <a:prstGeom prst="roundRect">
            <a:avLst>
              <a:gd name="adj" fmla="val 9194"/>
            </a:avLst>
          </a:prstGeom>
          <a:solidFill>
            <a:srgbClr val="333B48"/>
          </a:solidFill>
          <a:ln/>
        </p:spPr>
      </p:sp>
      <p:sp>
        <p:nvSpPr>
          <p:cNvPr id="30" name="Shape 24"/>
          <p:cNvSpPr/>
          <p:nvPr/>
        </p:nvSpPr>
        <p:spPr>
          <a:xfrm>
            <a:off x="9507748" y="2906878"/>
            <a:ext cx="298369" cy="567842"/>
          </a:xfrm>
          <a:prstGeom prst="roundRect">
            <a:avLst>
              <a:gd name="adj" fmla="val 9194"/>
            </a:avLst>
          </a:prstGeom>
          <a:solidFill>
            <a:srgbClr val="333B48"/>
          </a:solidFill>
          <a:ln/>
        </p:spPr>
      </p:sp>
      <p:sp>
        <p:nvSpPr>
          <p:cNvPr id="31" name="Shape 25"/>
          <p:cNvSpPr/>
          <p:nvPr/>
        </p:nvSpPr>
        <p:spPr>
          <a:xfrm>
            <a:off x="9934133" y="2635301"/>
            <a:ext cx="298369" cy="839419"/>
          </a:xfrm>
          <a:prstGeom prst="roundRect">
            <a:avLst>
              <a:gd name="adj" fmla="val 9194"/>
            </a:avLst>
          </a:prstGeom>
          <a:solidFill>
            <a:srgbClr val="333B48"/>
          </a:solidFill>
          <a:ln/>
        </p:spPr>
      </p:sp>
      <p:sp>
        <p:nvSpPr>
          <p:cNvPr id="32" name="Shape 26"/>
          <p:cNvSpPr/>
          <p:nvPr/>
        </p:nvSpPr>
        <p:spPr>
          <a:xfrm>
            <a:off x="10360518" y="3030322"/>
            <a:ext cx="298369" cy="444398"/>
          </a:xfrm>
          <a:prstGeom prst="roundRect">
            <a:avLst>
              <a:gd name="adj" fmla="val 9194"/>
            </a:avLst>
          </a:prstGeom>
          <a:solidFill>
            <a:srgbClr val="333B48"/>
          </a:solidFill>
          <a:ln/>
        </p:spPr>
      </p:sp>
      <p:sp>
        <p:nvSpPr>
          <p:cNvPr id="33" name="Shape 27"/>
          <p:cNvSpPr/>
          <p:nvPr/>
        </p:nvSpPr>
        <p:spPr>
          <a:xfrm>
            <a:off x="10786902" y="2832811"/>
            <a:ext cx="298369" cy="641909"/>
          </a:xfrm>
          <a:prstGeom prst="roundRect">
            <a:avLst>
              <a:gd name="adj" fmla="val 9194"/>
            </a:avLst>
          </a:prstGeom>
          <a:solidFill>
            <a:srgbClr val="333B48"/>
          </a:solidFill>
          <a:ln/>
        </p:spPr>
      </p:sp>
      <p:sp>
        <p:nvSpPr>
          <p:cNvPr id="34" name="Text 28"/>
          <p:cNvSpPr/>
          <p:nvPr/>
        </p:nvSpPr>
        <p:spPr>
          <a:xfrm>
            <a:off x="6903720" y="379476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B8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6.2h</a:t>
            </a:r>
            <a:endParaRPr lang="en-US" sz="2600" dirty="0"/>
          </a:p>
        </p:txBody>
      </p:sp>
      <p:sp>
        <p:nvSpPr>
          <p:cNvPr id="35" name="Text 29"/>
          <p:cNvSpPr/>
          <p:nvPr/>
        </p:nvSpPr>
        <p:spPr>
          <a:xfrm>
            <a:off x="6903720" y="441655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</a:t>
            </a:r>
            <a:endParaRPr lang="en-US" sz="1000" dirty="0"/>
          </a:p>
        </p:txBody>
      </p:sp>
      <p:sp>
        <p:nvSpPr>
          <p:cNvPr id="36" name="Text 30"/>
          <p:cNvSpPr/>
          <p:nvPr/>
        </p:nvSpPr>
        <p:spPr>
          <a:xfrm>
            <a:off x="8275320" y="37947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6F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83%</a:t>
            </a:r>
            <a:endParaRPr lang="en-US" sz="2600" dirty="0"/>
          </a:p>
        </p:txBody>
      </p:sp>
      <p:sp>
        <p:nvSpPr>
          <p:cNvPr id="37" name="Text 31"/>
          <p:cNvSpPr/>
          <p:nvPr/>
        </p:nvSpPr>
        <p:spPr>
          <a:xfrm>
            <a:off x="8275320" y="44165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PRODUCTIVITY</a:t>
            </a:r>
            <a:endParaRPr lang="en-US" sz="1000" dirty="0"/>
          </a:p>
        </p:txBody>
      </p:sp>
      <p:sp>
        <p:nvSpPr>
          <p:cNvPr id="38" name="Text 32"/>
          <p:cNvSpPr/>
          <p:nvPr/>
        </p:nvSpPr>
        <p:spPr>
          <a:xfrm>
            <a:off x="10104120" y="379476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2600" dirty="0"/>
          </a:p>
        </p:txBody>
      </p:sp>
      <p:sp>
        <p:nvSpPr>
          <p:cNvPr id="39" name="Text 33"/>
          <p:cNvSpPr/>
          <p:nvPr/>
        </p:nvSpPr>
        <p:spPr>
          <a:xfrm>
            <a:off x="10104120" y="441655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SWITCHES</a:t>
            </a:r>
            <a:endParaRPr lang="en-US" sz="1000" dirty="0"/>
          </a:p>
        </p:txBody>
      </p:sp>
      <p:sp>
        <p:nvSpPr>
          <p:cNvPr id="40" name="Shape 34"/>
          <p:cNvSpPr/>
          <p:nvPr/>
        </p:nvSpPr>
        <p:spPr>
          <a:xfrm>
            <a:off x="6903720" y="5239512"/>
            <a:ext cx="4263847" cy="457200"/>
          </a:xfrm>
          <a:prstGeom prst="roundRect">
            <a:avLst>
              <a:gd name="adj" fmla="val 50000"/>
            </a:avLst>
          </a:prstGeom>
          <a:solidFill>
            <a:srgbClr val="11151C"/>
          </a:solidFill>
          <a:ln w="12700">
            <a:solidFill>
              <a:srgbClr val="333B48"/>
            </a:solidFill>
            <a:prstDash val="solid"/>
          </a:ln>
        </p:spPr>
      </p:sp>
      <p:sp>
        <p:nvSpPr>
          <p:cNvPr id="41" name="Text 35"/>
          <p:cNvSpPr/>
          <p:nvPr/>
        </p:nvSpPr>
        <p:spPr>
          <a:xfrm>
            <a:off x="7178040" y="5239512"/>
            <a:ext cx="389808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4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◐  Writing report</a:t>
            </a:r>
            <a:pPr indent="0" marL="0">
              <a:buNone/>
            </a:pPr>
            <a:r>
              <a:rPr lang="en-US" sz="1250" dirty="0">
                <a:solidFill>
                  <a:srgbClr val="9BA1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24:18</a:t>
            </a:r>
            <a:endParaRPr lang="en-US" sz="1250" dirty="0"/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57200"/>
            <a:ext cx="10874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6F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HIGHLIGHT · CANVAS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Quoril</a:t>
            </a:r>
            <a:pPr algn="l" indent="0" marL="0">
              <a:buNone/>
            </a:pPr>
            <a:r>
              <a:rPr lang="en-US" sz="1200" b="1" dirty="0">
                <a:solidFill>
                  <a:srgbClr val="C6F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911535" y="635508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58368" y="768096"/>
            <a:ext cx="1087495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45"/>
              </a:lnSpc>
              <a:buNone/>
            </a:pPr>
            <a:r>
              <a:rPr lang="en-US" sz="2900" b="1" dirty="0">
                <a:solidFill>
                  <a:srgbClr val="F4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Canvas — think, plan, and connect work in space.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658368" y="1572768"/>
            <a:ext cx="5852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30"/>
              </a:lnSpc>
              <a:buNone/>
            </a:pPr>
            <a:r>
              <a:rPr lang="en-US" sz="1450" dirty="0">
                <a:solidFill>
                  <a:srgbClr val="9BA1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spatial board where ideas, tasks, images, videos, links and checklists live as blocks you can connect. Draw dependencies and flows between them — planning that mirrors how people actually think.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58368" y="3063240"/>
            <a:ext cx="402336" cy="402336"/>
          </a:xfrm>
          <a:prstGeom prst="roundRect">
            <a:avLst>
              <a:gd name="adj" fmla="val 20455"/>
            </a:avLst>
          </a:prstGeom>
          <a:solidFill>
            <a:srgbClr val="C6F24D">
              <a:alpha val="16000"/>
            </a:srgbClr>
          </a:solidFill>
          <a:ln w="12700">
            <a:solidFill>
              <a:srgbClr val="C6F24D">
                <a:alpha val="45000"/>
              </a:srgbClr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069" y="3183941"/>
            <a:ext cx="160934" cy="16093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07008" y="3044952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Rich blocks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207008" y="3319272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10"/>
              </a:lnSpc>
              <a:buNone/>
            </a:pPr>
            <a:r>
              <a:rPr lang="en-US" sz="1150" dirty="0">
                <a:solidFill>
                  <a:srgbClr val="9BA1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Text, images, video, links, checklists &amp; live task references on one infinite canvas.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58368" y="3977640"/>
            <a:ext cx="402336" cy="402336"/>
          </a:xfrm>
          <a:prstGeom prst="roundRect">
            <a:avLst>
              <a:gd name="adj" fmla="val 20455"/>
            </a:avLst>
          </a:prstGeom>
          <a:solidFill>
            <a:srgbClr val="C6F24D">
              <a:alpha val="16000"/>
            </a:srgbClr>
          </a:solidFill>
          <a:ln w="12700">
            <a:solidFill>
              <a:srgbClr val="C6F24D">
                <a:alpha val="45000"/>
              </a:srgbClr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069" y="4098341"/>
            <a:ext cx="160934" cy="16093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207008" y="3959352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connections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1207008" y="4233672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10"/>
              </a:lnSpc>
              <a:buNone/>
            </a:pPr>
            <a:r>
              <a:rPr lang="en-US" sz="1150" dirty="0">
                <a:solidFill>
                  <a:srgbClr val="9BA1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 blocks as reference, flow, or dependency — with conditional triggers between them.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58368" y="4892040"/>
            <a:ext cx="402336" cy="402336"/>
          </a:xfrm>
          <a:prstGeom prst="roundRect">
            <a:avLst>
              <a:gd name="adj" fmla="val 20455"/>
            </a:avLst>
          </a:prstGeom>
          <a:solidFill>
            <a:srgbClr val="C6F24D">
              <a:alpha val="16000"/>
            </a:srgbClr>
          </a:solidFill>
          <a:ln w="12700">
            <a:solidFill>
              <a:srgbClr val="C6F24D">
                <a:alpha val="45000"/>
              </a:srgbClr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9069" y="5012741"/>
            <a:ext cx="160934" cy="16093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207008" y="4873752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Zones &amp; structure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1207008" y="5148072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10"/>
              </a:lnSpc>
              <a:buNone/>
            </a:pPr>
            <a:r>
              <a:rPr lang="en-US" sz="1150" dirty="0">
                <a:solidFill>
                  <a:srgbClr val="9BA1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work into zones and turn messy thinking into an executable plan.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675120" y="1737360"/>
            <a:ext cx="4858207" cy="4160520"/>
          </a:xfrm>
          <a:prstGeom prst="roundRect">
            <a:avLst>
              <a:gd name="adj" fmla="val 2418"/>
            </a:avLst>
          </a:prstGeom>
          <a:solidFill>
            <a:srgbClr val="11151C"/>
          </a:solidFill>
          <a:ln w="12700">
            <a:solidFill>
              <a:srgbClr val="242A35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4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778240" y="2542032"/>
            <a:ext cx="384048" cy="603504"/>
          </a:xfrm>
          <a:prstGeom prst="line">
            <a:avLst/>
          </a:prstGeom>
          <a:noFill/>
          <a:ln w="19050">
            <a:solidFill>
              <a:srgbClr val="C6F24D"/>
            </a:solidFill>
            <a:prstDash val="solid"/>
            <a:tailEnd type="triangle"/>
          </a:ln>
        </p:spPr>
      </p:sp>
      <p:sp>
        <p:nvSpPr>
          <p:cNvPr id="21" name="Shape 16"/>
          <p:cNvSpPr/>
          <p:nvPr/>
        </p:nvSpPr>
        <p:spPr>
          <a:xfrm>
            <a:off x="9875520" y="3749040"/>
            <a:ext cx="137160" cy="658368"/>
          </a:xfrm>
          <a:prstGeom prst="line">
            <a:avLst/>
          </a:prstGeom>
          <a:noFill/>
          <a:ln w="19050">
            <a:solidFill>
              <a:srgbClr val="5B8DEF"/>
            </a:solidFill>
            <a:prstDash val="solid"/>
            <a:tailEnd type="triangle"/>
          </a:ln>
        </p:spPr>
      </p:sp>
      <p:sp>
        <p:nvSpPr>
          <p:cNvPr id="22" name="Shape 17"/>
          <p:cNvSpPr/>
          <p:nvPr/>
        </p:nvSpPr>
        <p:spPr>
          <a:xfrm>
            <a:off x="8001000" y="4251960"/>
            <a:ext cx="0" cy="347472"/>
          </a:xfrm>
          <a:prstGeom prst="line">
            <a:avLst/>
          </a:prstGeom>
          <a:noFill/>
          <a:ln w="19050">
            <a:solidFill>
              <a:srgbClr val="F5A623"/>
            </a:solidFill>
            <a:prstDash val="solid"/>
            <a:tailEnd type="triangle"/>
          </a:ln>
        </p:spPr>
      </p:sp>
      <p:sp>
        <p:nvSpPr>
          <p:cNvPr id="23" name="Shape 18"/>
          <p:cNvSpPr/>
          <p:nvPr/>
        </p:nvSpPr>
        <p:spPr>
          <a:xfrm>
            <a:off x="7132320" y="2194560"/>
            <a:ext cx="1645920" cy="621792"/>
          </a:xfrm>
          <a:prstGeom prst="roundRect">
            <a:avLst>
              <a:gd name="adj" fmla="val 8824"/>
            </a:avLst>
          </a:prstGeom>
          <a:solidFill>
            <a:srgbClr val="0F131A"/>
          </a:solidFill>
          <a:ln w="16510">
            <a:solidFill>
              <a:srgbClr val="C6F24D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7242048" y="2194560"/>
            <a:ext cx="142646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9144000" y="3108960"/>
            <a:ext cx="1371600" cy="621792"/>
          </a:xfrm>
          <a:prstGeom prst="roundRect">
            <a:avLst>
              <a:gd name="adj" fmla="val 8824"/>
            </a:avLst>
          </a:prstGeom>
          <a:solidFill>
            <a:srgbClr val="0F131A"/>
          </a:solidFill>
          <a:ln w="16510">
            <a:solidFill>
              <a:srgbClr val="5B8DEF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9253728" y="3108960"/>
            <a:ext cx="115214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 spec</a:t>
            </a:r>
            <a:endParaRPr lang="en-US" sz="1000" dirty="0"/>
          </a:p>
        </p:txBody>
      </p:sp>
      <p:sp>
        <p:nvSpPr>
          <p:cNvPr id="27" name="Shape 22"/>
          <p:cNvSpPr/>
          <p:nvPr/>
        </p:nvSpPr>
        <p:spPr>
          <a:xfrm>
            <a:off x="7223760" y="3611880"/>
            <a:ext cx="1554480" cy="621792"/>
          </a:xfrm>
          <a:prstGeom prst="roundRect">
            <a:avLst>
              <a:gd name="adj" fmla="val 8824"/>
            </a:avLst>
          </a:prstGeom>
          <a:solidFill>
            <a:srgbClr val="0F131A"/>
          </a:solidFill>
          <a:ln w="16510">
            <a:solidFill>
              <a:srgbClr val="F5A623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7333488" y="3611880"/>
            <a:ext cx="13350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</a:t>
            </a:r>
            <a:endParaRPr lang="en-US" sz="1000" dirty="0"/>
          </a:p>
        </p:txBody>
      </p:sp>
      <p:sp>
        <p:nvSpPr>
          <p:cNvPr id="29" name="Shape 24"/>
          <p:cNvSpPr/>
          <p:nvPr/>
        </p:nvSpPr>
        <p:spPr>
          <a:xfrm>
            <a:off x="7223760" y="4617720"/>
            <a:ext cx="1554480" cy="566928"/>
          </a:xfrm>
          <a:prstGeom prst="roundRect">
            <a:avLst>
              <a:gd name="adj" fmla="val 9677"/>
            </a:avLst>
          </a:prstGeom>
          <a:solidFill>
            <a:srgbClr val="0F131A"/>
          </a:solidFill>
          <a:ln w="16510">
            <a:solidFill>
              <a:srgbClr val="2DD4A7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7333488" y="4617720"/>
            <a:ext cx="13350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</a:t>
            </a:r>
            <a:endParaRPr lang="en-US" sz="1000" dirty="0"/>
          </a:p>
        </p:txBody>
      </p:sp>
      <p:sp>
        <p:nvSpPr>
          <p:cNvPr id="31" name="Shape 26"/>
          <p:cNvSpPr/>
          <p:nvPr/>
        </p:nvSpPr>
        <p:spPr>
          <a:xfrm>
            <a:off x="9326880" y="4434840"/>
            <a:ext cx="1417320" cy="777240"/>
          </a:xfrm>
          <a:prstGeom prst="roundRect">
            <a:avLst>
              <a:gd name="adj" fmla="val 7059"/>
            </a:avLst>
          </a:prstGeom>
          <a:solidFill>
            <a:srgbClr val="0F131A"/>
          </a:solidFill>
          <a:ln w="16510">
            <a:solidFill>
              <a:srgbClr val="2DD4A7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9436608" y="4434840"/>
            <a:ext cx="11978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Checklist</a:t>
            </a:r>
            <a:endParaRPr lang="en-US" sz="1000" dirty="0"/>
          </a:p>
        </p:txBody>
      </p:sp>
      <p:sp>
        <p:nvSpPr>
          <p:cNvPr id="33" name="Text 28"/>
          <p:cNvSpPr/>
          <p:nvPr/>
        </p:nvSpPr>
        <p:spPr>
          <a:xfrm>
            <a:off x="7040880" y="5513832"/>
            <a:ext cx="41266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dependency · flow · reference</a:t>
            </a:r>
            <a:endParaRPr lang="en-US" sz="1000" dirty="0"/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57200"/>
            <a:ext cx="10874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6F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HIGHLIGHT · COLLABORATION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Quoril</a:t>
            </a:r>
            <a:pPr algn="l" indent="0" marL="0">
              <a:buNone/>
            </a:pPr>
            <a:r>
              <a:rPr lang="en-US" sz="1200" b="1" dirty="0">
                <a:solidFill>
                  <a:srgbClr val="C6F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911535" y="635508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58368" y="768096"/>
            <a:ext cx="1087495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45"/>
              </a:lnSpc>
              <a:buNone/>
            </a:pPr>
            <a:r>
              <a:rPr lang="en-US" sz="2900" b="1" dirty="0">
                <a:solidFill>
                  <a:srgbClr val="F4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to be shared — work together in real time.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6675120" y="1737360"/>
            <a:ext cx="4858207" cy="4160520"/>
          </a:xfrm>
          <a:prstGeom prst="roundRect">
            <a:avLst>
              <a:gd name="adj" fmla="val 2418"/>
            </a:avLst>
          </a:prstGeom>
          <a:solidFill>
            <a:srgbClr val="0F131A"/>
          </a:solidFill>
          <a:ln w="12700">
            <a:solidFill>
              <a:srgbClr val="242A35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4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995160" y="1993392"/>
            <a:ext cx="421812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whiteboard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995160" y="2304288"/>
            <a:ext cx="421812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1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Planning · Q3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995160" y="2743200"/>
            <a:ext cx="3395167" cy="457200"/>
          </a:xfrm>
          <a:prstGeom prst="roundRect">
            <a:avLst>
              <a:gd name="adj" fmla="val 20000"/>
            </a:avLst>
          </a:prstGeom>
          <a:solidFill>
            <a:srgbClr val="11151C"/>
          </a:solidFill>
          <a:ln w="12700">
            <a:solidFill>
              <a:srgbClr val="333B4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78040" y="2743200"/>
            <a:ext cx="302940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BA1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teammate@email.com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10481767" y="2743200"/>
            <a:ext cx="731520" cy="457200"/>
          </a:xfrm>
          <a:prstGeom prst="roundRect">
            <a:avLst>
              <a:gd name="adj" fmla="val 20000"/>
            </a:avLst>
          </a:prstGeom>
          <a:solidFill>
            <a:srgbClr val="C6F24D"/>
          </a:solidFill>
          <a:ln/>
        </p:spPr>
      </p:sp>
      <p:sp>
        <p:nvSpPr>
          <p:cNvPr id="12" name="Text 10"/>
          <p:cNvSpPr/>
          <p:nvPr/>
        </p:nvSpPr>
        <p:spPr>
          <a:xfrm>
            <a:off x="10481767" y="274320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0D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Invite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995160" y="3429000"/>
            <a:ext cx="421812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 WITH ACCESS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995160" y="3794760"/>
            <a:ext cx="384048" cy="384048"/>
          </a:xfrm>
          <a:prstGeom prst="ellipse">
            <a:avLst/>
          </a:prstGeom>
          <a:solidFill>
            <a:srgbClr val="C6F24D"/>
          </a:solidFill>
          <a:ln/>
        </p:spPr>
      </p:sp>
      <p:sp>
        <p:nvSpPr>
          <p:cNvPr id="15" name="Text 13"/>
          <p:cNvSpPr/>
          <p:nvPr/>
        </p:nvSpPr>
        <p:spPr>
          <a:xfrm>
            <a:off x="6995160" y="3794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0D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498080" y="37947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Erik Vale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161727" y="379476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BA1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995160" y="4343400"/>
            <a:ext cx="384048" cy="384048"/>
          </a:xfrm>
          <a:prstGeom prst="ellipse">
            <a:avLst/>
          </a:prstGeom>
          <a:solidFill>
            <a:srgbClr val="5B8DEF"/>
          </a:solidFill>
          <a:ln/>
        </p:spPr>
      </p:sp>
      <p:sp>
        <p:nvSpPr>
          <p:cNvPr id="19" name="Text 17"/>
          <p:cNvSpPr/>
          <p:nvPr/>
        </p:nvSpPr>
        <p:spPr>
          <a:xfrm>
            <a:off x="6995160" y="4343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0D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498080" y="434340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Aisha Khan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161727" y="434340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BA1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Editor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995160" y="4892040"/>
            <a:ext cx="384048" cy="384048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23" name="Text 21"/>
          <p:cNvSpPr/>
          <p:nvPr/>
        </p:nvSpPr>
        <p:spPr>
          <a:xfrm>
            <a:off x="6995160" y="4892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0D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498080" y="489204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Jon Meyer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161727" y="489204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BA1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Editor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995160" y="5440680"/>
            <a:ext cx="384048" cy="384048"/>
          </a:xfrm>
          <a:prstGeom prst="ellipse">
            <a:avLst/>
          </a:prstGeom>
          <a:solidFill>
            <a:srgbClr val="2DD4A7"/>
          </a:solidFill>
          <a:ln/>
        </p:spPr>
      </p:sp>
      <p:sp>
        <p:nvSpPr>
          <p:cNvPr id="27" name="Text 25"/>
          <p:cNvSpPr/>
          <p:nvPr/>
        </p:nvSpPr>
        <p:spPr>
          <a:xfrm>
            <a:off x="6995160" y="5440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0D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498080" y="544068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 Patel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161727" y="544068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BA1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Viewer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58368" y="1691640"/>
            <a:ext cx="5760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30"/>
              </a:lnSpc>
              <a:buNone/>
            </a:pPr>
            <a:r>
              <a:rPr lang="en-US" sz="1450" dirty="0">
                <a:solidFill>
                  <a:srgbClr val="9BA1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Canvases and workspaces aren't solo artifacts. Invite teammates by email, assign roles, and plan together — the same board an IC sketches on becomes the team's shared source of truth.</a:t>
            </a:r>
            <a:endParaRPr lang="en-US" sz="1450" dirty="0"/>
          </a:p>
        </p:txBody>
      </p:sp>
      <p:sp>
        <p:nvSpPr>
          <p:cNvPr id="31" name="Shape 29"/>
          <p:cNvSpPr/>
          <p:nvPr/>
        </p:nvSpPr>
        <p:spPr>
          <a:xfrm>
            <a:off x="658368" y="3200400"/>
            <a:ext cx="402336" cy="402336"/>
          </a:xfrm>
          <a:prstGeom prst="roundRect">
            <a:avLst>
              <a:gd name="adj" fmla="val 20455"/>
            </a:avLst>
          </a:prstGeom>
          <a:solidFill>
            <a:srgbClr val="C6F24D">
              <a:alpha val="16000"/>
            </a:srgbClr>
          </a:solidFill>
          <a:ln w="12700">
            <a:solidFill>
              <a:srgbClr val="C6F24D">
                <a:alpha val="45000"/>
              </a:srgbClr>
            </a:solidFill>
            <a:prstDash val="solid"/>
          </a:ln>
        </p:spPr>
      </p:sp>
      <p:pic>
        <p:nvPicPr>
          <p:cNvPr id="3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069" y="3321101"/>
            <a:ext cx="160934" cy="160934"/>
          </a:xfrm>
          <a:prstGeom prst="rect">
            <a:avLst/>
          </a:prstGeom>
        </p:spPr>
      </p:pic>
      <p:sp>
        <p:nvSpPr>
          <p:cNvPr id="33" name="Text 30"/>
          <p:cNvSpPr/>
          <p:nvPr/>
        </p:nvSpPr>
        <p:spPr>
          <a:xfrm>
            <a:off x="1207008" y="3182112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Invite by email, set roles</a:t>
            </a:r>
            <a:endParaRPr lang="en-US" sz="1400" dirty="0"/>
          </a:p>
        </p:txBody>
      </p:sp>
      <p:sp>
        <p:nvSpPr>
          <p:cNvPr id="34" name="Text 31"/>
          <p:cNvSpPr/>
          <p:nvPr/>
        </p:nvSpPr>
        <p:spPr>
          <a:xfrm>
            <a:off x="1207008" y="345643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10"/>
              </a:lnSpc>
              <a:buNone/>
            </a:pPr>
            <a:r>
              <a:rPr lang="en-US" sz="1150" dirty="0">
                <a:solidFill>
                  <a:srgbClr val="9BA1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Owner, editor, viewer — granular access on every canvas.</a:t>
            </a:r>
            <a:endParaRPr lang="en-US" sz="1150" dirty="0"/>
          </a:p>
        </p:txBody>
      </p:sp>
      <p:sp>
        <p:nvSpPr>
          <p:cNvPr id="35" name="Shape 32"/>
          <p:cNvSpPr/>
          <p:nvPr/>
        </p:nvSpPr>
        <p:spPr>
          <a:xfrm>
            <a:off x="658368" y="4069080"/>
            <a:ext cx="402336" cy="402336"/>
          </a:xfrm>
          <a:prstGeom prst="roundRect">
            <a:avLst>
              <a:gd name="adj" fmla="val 20455"/>
            </a:avLst>
          </a:prstGeom>
          <a:solidFill>
            <a:srgbClr val="C6F24D">
              <a:alpha val="16000"/>
            </a:srgbClr>
          </a:solidFill>
          <a:ln w="12700">
            <a:solidFill>
              <a:srgbClr val="C6F24D">
                <a:alpha val="45000"/>
              </a:srgbClr>
            </a:solidFill>
            <a:prstDash val="solid"/>
          </a:ln>
        </p:spPr>
      </p:sp>
      <p:pic>
        <p:nvPicPr>
          <p:cNvPr id="36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069" y="4189781"/>
            <a:ext cx="160934" cy="160934"/>
          </a:xfrm>
          <a:prstGeom prst="rect">
            <a:avLst/>
          </a:prstGeom>
        </p:spPr>
      </p:pic>
      <p:sp>
        <p:nvSpPr>
          <p:cNvPr id="37" name="Text 33"/>
          <p:cNvSpPr/>
          <p:nvPr/>
        </p:nvSpPr>
        <p:spPr>
          <a:xfrm>
            <a:off x="1207008" y="4050792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sync</a:t>
            </a:r>
            <a:endParaRPr lang="en-US" sz="1400" dirty="0"/>
          </a:p>
        </p:txBody>
      </p:sp>
      <p:sp>
        <p:nvSpPr>
          <p:cNvPr id="38" name="Text 34"/>
          <p:cNvSpPr/>
          <p:nvPr/>
        </p:nvSpPr>
        <p:spPr>
          <a:xfrm>
            <a:off x="1207008" y="432511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10"/>
              </a:lnSpc>
              <a:buNone/>
            </a:pPr>
            <a:r>
              <a:rPr lang="en-US" sz="1150" dirty="0">
                <a:solidFill>
                  <a:srgbClr val="9BA1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Supabase-powered live updates keep everyone on the same board.</a:t>
            </a:r>
            <a:endParaRPr lang="en-US" sz="1150" dirty="0"/>
          </a:p>
        </p:txBody>
      </p:sp>
      <p:sp>
        <p:nvSpPr>
          <p:cNvPr id="39" name="Shape 35"/>
          <p:cNvSpPr/>
          <p:nvPr/>
        </p:nvSpPr>
        <p:spPr>
          <a:xfrm>
            <a:off x="658368" y="4937760"/>
            <a:ext cx="402336" cy="402336"/>
          </a:xfrm>
          <a:prstGeom prst="roundRect">
            <a:avLst>
              <a:gd name="adj" fmla="val 20455"/>
            </a:avLst>
          </a:prstGeom>
          <a:solidFill>
            <a:srgbClr val="C6F24D">
              <a:alpha val="16000"/>
            </a:srgbClr>
          </a:solidFill>
          <a:ln w="12700">
            <a:solidFill>
              <a:srgbClr val="C6F24D">
                <a:alpha val="45000"/>
              </a:srgbClr>
            </a:solidFill>
            <a:prstDash val="solid"/>
          </a:ln>
        </p:spPr>
      </p:sp>
      <p:pic>
        <p:nvPicPr>
          <p:cNvPr id="40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9069" y="5058461"/>
            <a:ext cx="160934" cy="160934"/>
          </a:xfrm>
          <a:prstGeom prst="rect">
            <a:avLst/>
          </a:prstGeom>
        </p:spPr>
      </p:pic>
      <p:sp>
        <p:nvSpPr>
          <p:cNvPr id="41" name="Text 36"/>
          <p:cNvSpPr/>
          <p:nvPr/>
        </p:nvSpPr>
        <p:spPr>
          <a:xfrm>
            <a:off x="1207008" y="4919472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workspaces &amp; lists</a:t>
            </a:r>
            <a:endParaRPr lang="en-US" sz="1400" dirty="0"/>
          </a:p>
        </p:txBody>
      </p:sp>
      <p:sp>
        <p:nvSpPr>
          <p:cNvPr id="42" name="Text 37"/>
          <p:cNvSpPr/>
          <p:nvPr/>
        </p:nvSpPr>
        <p:spPr>
          <a:xfrm>
            <a:off x="1207008" y="519379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10"/>
              </a:lnSpc>
              <a:buNone/>
            </a:pPr>
            <a:r>
              <a:rPr lang="en-US" sz="1150" dirty="0">
                <a:solidFill>
                  <a:srgbClr val="9BA1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Organize projects across a team, not just a person.</a:t>
            </a:r>
            <a:endParaRPr lang="en-US" sz="1150" dirty="0"/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57200"/>
            <a:ext cx="10874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6F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LOOP · DO &amp; MEASURE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Quoril</a:t>
            </a:r>
            <a:pPr algn="l" indent="0" marL="0">
              <a:buNone/>
            </a:pPr>
            <a:r>
              <a:rPr lang="en-US" sz="1200" b="1" dirty="0">
                <a:solidFill>
                  <a:srgbClr val="C6F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911535" y="635508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58368" y="768096"/>
            <a:ext cx="1087495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940"/>
              </a:lnSpc>
              <a:buNone/>
            </a:pPr>
            <a:r>
              <a:rPr lang="en-US" sz="2800" b="1" dirty="0">
                <a:solidFill>
                  <a:srgbClr val="F4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 deeply — and finally see where time really goes.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58368" y="1783080"/>
            <a:ext cx="5282032" cy="3977640"/>
          </a:xfrm>
          <a:prstGeom prst="roundRect">
            <a:avLst>
              <a:gd name="adj" fmla="val 2529"/>
            </a:avLst>
          </a:prstGeom>
          <a:solidFill>
            <a:srgbClr val="0F131A"/>
          </a:solidFill>
          <a:ln w="12700">
            <a:solidFill>
              <a:srgbClr val="242A35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78408" y="2075688"/>
            <a:ext cx="502920" cy="502920"/>
          </a:xfrm>
          <a:prstGeom prst="roundRect">
            <a:avLst>
              <a:gd name="adj" fmla="val 16364"/>
            </a:avLst>
          </a:prstGeom>
          <a:solidFill>
            <a:srgbClr val="5B8DEF">
              <a:alpha val="16000"/>
            </a:srgbClr>
          </a:solidFill>
          <a:ln w="12700">
            <a:solidFill>
              <a:srgbClr val="5B8DEF">
                <a:alpha val="45000"/>
              </a:srgbClr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284" y="2226564"/>
            <a:ext cx="201168" cy="2011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18488" y="2112264"/>
            <a:ext cx="4093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4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 engine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1024128" y="2834640"/>
            <a:ext cx="4550512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ts val="1664"/>
              </a:lnSpc>
              <a:spcAft>
                <a:spcPts val="90"/>
              </a:spcAft>
              <a:buSzPct val="100000"/>
              <a:buChar char="▪"/>
            </a:pPr>
            <a:r>
              <a:rPr lang="en-US" sz="1300" dirty="0">
                <a:solidFill>
                  <a:srgbClr val="9BA1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modes: full-screen deep work, floating pill, quick popup</a:t>
            </a:r>
            <a:endParaRPr lang="en-US" sz="1300" dirty="0"/>
          </a:p>
          <a:p>
            <a:pPr marL="203200" indent="-203200">
              <a:lnSpc>
                <a:spcPts val="1664"/>
              </a:lnSpc>
              <a:spcAft>
                <a:spcPts val="90"/>
              </a:spcAft>
              <a:buSzPct val="100000"/>
              <a:buChar char="▪"/>
            </a:pPr>
            <a:r>
              <a:rPr lang="en-US" sz="1300" dirty="0">
                <a:solidFill>
                  <a:srgbClr val="9BA1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Pomodoro with configurable work/break cycles &amp; alerts</a:t>
            </a:r>
            <a:endParaRPr lang="en-US" sz="1300" dirty="0"/>
          </a:p>
          <a:p>
            <a:pPr marL="203200" indent="-203200">
              <a:lnSpc>
                <a:spcPts val="1664"/>
              </a:lnSpc>
              <a:spcAft>
                <a:spcPts val="90"/>
              </a:spcAft>
              <a:buSzPct val="100000"/>
              <a:buChar char="▪"/>
            </a:pPr>
            <a:r>
              <a:rPr lang="en-US" sz="1300" dirty="0">
                <a:solidFill>
                  <a:srgbClr val="9BA1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types: deep work, sprint, pomodoro, break</a:t>
            </a:r>
            <a:endParaRPr lang="en-US" sz="1300" dirty="0"/>
          </a:p>
          <a:p>
            <a:pPr marL="203200" indent="-203200">
              <a:lnSpc>
                <a:spcPts val="1664"/>
              </a:lnSpc>
              <a:spcAft>
                <a:spcPts val="90"/>
              </a:spcAft>
              <a:buSzPct val="100000"/>
              <a:buChar char="▪"/>
            </a:pPr>
            <a:r>
              <a:rPr lang="en-US" sz="1300" dirty="0">
                <a:solidFill>
                  <a:srgbClr val="9BA1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Completion celebrations to build the daily habit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251296" y="1783080"/>
            <a:ext cx="5282032" cy="3977640"/>
          </a:xfrm>
          <a:prstGeom prst="roundRect">
            <a:avLst>
              <a:gd name="adj" fmla="val 2529"/>
            </a:avLst>
          </a:prstGeom>
          <a:solidFill>
            <a:srgbClr val="0F131A"/>
          </a:solidFill>
          <a:ln w="12700">
            <a:solidFill>
              <a:srgbClr val="242A35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4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571336" y="2075688"/>
            <a:ext cx="502920" cy="502920"/>
          </a:xfrm>
          <a:prstGeom prst="roundRect">
            <a:avLst>
              <a:gd name="adj" fmla="val 16364"/>
            </a:avLst>
          </a:prstGeom>
          <a:solidFill>
            <a:srgbClr val="F5A623">
              <a:alpha val="16000"/>
            </a:srgbClr>
          </a:solidFill>
          <a:ln w="12700">
            <a:solidFill>
              <a:srgbClr val="F5A623">
                <a:alpha val="45000"/>
              </a:srgbClr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2212" y="2226564"/>
            <a:ext cx="201168" cy="20116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11416" y="2112264"/>
            <a:ext cx="4093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4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app tracking</a:t>
            </a:r>
            <a:endParaRPr lang="en-US" sz="1900" dirty="0"/>
          </a:p>
        </p:txBody>
      </p:sp>
      <p:sp>
        <p:nvSpPr>
          <p:cNvPr id="15" name="Text 11"/>
          <p:cNvSpPr/>
          <p:nvPr/>
        </p:nvSpPr>
        <p:spPr>
          <a:xfrm>
            <a:off x="6617056" y="2834640"/>
            <a:ext cx="4550512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ts val="1664"/>
              </a:lnSpc>
              <a:spcAft>
                <a:spcPts val="90"/>
              </a:spcAft>
              <a:buSzPct val="100000"/>
              <a:buChar char="▪"/>
            </a:pPr>
            <a:r>
              <a:rPr lang="en-US" sz="1300" dirty="0">
                <a:solidFill>
                  <a:srgbClr val="9BA1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Auto-classifies 20+ categories: Dev, Work, Comms, Web…</a:t>
            </a:r>
            <a:endParaRPr lang="en-US" sz="1300" dirty="0"/>
          </a:p>
          <a:p>
            <a:pPr marL="203200" indent="-203200">
              <a:lnSpc>
                <a:spcPts val="1664"/>
              </a:lnSpc>
              <a:spcAft>
                <a:spcPts val="90"/>
              </a:spcAft>
              <a:buSzPct val="100000"/>
              <a:buChar char="▪"/>
            </a:pPr>
            <a:r>
              <a:rPr lang="en-US" sz="1300" dirty="0">
                <a:solidFill>
                  <a:srgbClr val="9BA1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Detects top websites inside browsers</a:t>
            </a:r>
            <a:endParaRPr lang="en-US" sz="1300" dirty="0"/>
          </a:p>
          <a:p>
            <a:pPr marL="203200" indent="-203200">
              <a:lnSpc>
                <a:spcPts val="1664"/>
              </a:lnSpc>
              <a:spcAft>
                <a:spcPts val="90"/>
              </a:spcAft>
              <a:buSzPct val="100000"/>
              <a:buChar char="▪"/>
            </a:pPr>
            <a:r>
              <a:rPr lang="en-US" sz="1300" dirty="0">
                <a:solidFill>
                  <a:srgbClr val="9BA1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Idle detection &amp; active-vs-idle productivity scoring</a:t>
            </a:r>
            <a:endParaRPr lang="en-US" sz="1300" dirty="0"/>
          </a:p>
          <a:p>
            <a:pPr marL="203200" indent="-203200">
              <a:lnSpc>
                <a:spcPts val="1664"/>
              </a:lnSpc>
              <a:spcAft>
                <a:spcPts val="90"/>
              </a:spcAft>
              <a:buSzPct val="100000"/>
              <a:buChar char="▪"/>
            </a:pPr>
            <a:r>
              <a:rPr lang="en-US" sz="1300" dirty="0">
                <a:solidFill>
                  <a:srgbClr val="9BA1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Per-task context: usage links to the task you focused on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617056" y="5056632"/>
            <a:ext cx="146304" cy="146304"/>
          </a:xfrm>
          <a:prstGeom prst="ellipse">
            <a:avLst/>
          </a:prstGeom>
          <a:solidFill>
            <a:srgbClr val="C6F24D"/>
          </a:solidFill>
          <a:ln/>
        </p:spPr>
      </p:sp>
      <p:sp>
        <p:nvSpPr>
          <p:cNvPr id="17" name="Text 13"/>
          <p:cNvSpPr/>
          <p:nvPr/>
        </p:nvSpPr>
        <p:spPr>
          <a:xfrm>
            <a:off x="6818224" y="497433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BA1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Development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7988656" y="5056632"/>
            <a:ext cx="146304" cy="146304"/>
          </a:xfrm>
          <a:prstGeom prst="ellipse">
            <a:avLst/>
          </a:prstGeom>
          <a:solidFill>
            <a:srgbClr val="5B8DEF"/>
          </a:solidFill>
          <a:ln/>
        </p:spPr>
      </p:sp>
      <p:sp>
        <p:nvSpPr>
          <p:cNvPr id="19" name="Text 15"/>
          <p:cNvSpPr/>
          <p:nvPr/>
        </p:nvSpPr>
        <p:spPr>
          <a:xfrm>
            <a:off x="8189824" y="497433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BA1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9360256" y="5056632"/>
            <a:ext cx="146304" cy="146304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21" name="Text 17"/>
          <p:cNvSpPr/>
          <p:nvPr/>
        </p:nvSpPr>
        <p:spPr>
          <a:xfrm>
            <a:off x="9561424" y="497433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BA1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Comms</a:t>
            </a:r>
            <a:endParaRPr lang="en-US" sz="1050" dirty="0"/>
          </a:p>
        </p:txBody>
      </p:sp>
      <p:sp>
        <p:nvSpPr>
          <p:cNvPr id="22" name="Shape 18"/>
          <p:cNvSpPr/>
          <p:nvPr/>
        </p:nvSpPr>
        <p:spPr>
          <a:xfrm>
            <a:off x="10731856" y="5056632"/>
            <a:ext cx="146304" cy="146304"/>
          </a:xfrm>
          <a:prstGeom prst="ellipse">
            <a:avLst/>
          </a:prstGeom>
          <a:solidFill>
            <a:srgbClr val="2DD4A7"/>
          </a:solidFill>
          <a:ln/>
        </p:spPr>
      </p:sp>
      <p:sp>
        <p:nvSpPr>
          <p:cNvPr id="23" name="Text 19"/>
          <p:cNvSpPr/>
          <p:nvPr/>
        </p:nvSpPr>
        <p:spPr>
          <a:xfrm>
            <a:off x="10933024" y="497433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BA1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</a:t>
            </a:r>
            <a:endParaRPr lang="en-US" sz="1050" dirty="0"/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57200"/>
            <a:ext cx="10874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6F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HIGHLIGHT · REPORTS &amp; INSIGHTS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Quoril</a:t>
            </a:r>
            <a:pPr algn="l" indent="0" marL="0">
              <a:buNone/>
            </a:pPr>
            <a:r>
              <a:rPr lang="en-US" sz="1200" b="1" dirty="0">
                <a:solidFill>
                  <a:srgbClr val="C6F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911535" y="635508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58368" y="768096"/>
            <a:ext cx="1087495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35"/>
              </a:lnSpc>
              <a:buNone/>
            </a:pPr>
            <a:r>
              <a:rPr lang="en-US" sz="2700" b="1" dirty="0">
                <a:solidFill>
                  <a:srgbClr val="F4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Reports that don't just show data — they generate insight.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658368" y="1554480"/>
            <a:ext cx="5760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9BA1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configurable analytics dashboard turns raw activity into a daily snapshot: focus time, tasks done, a 0–100 productivity score, estimation accuracy, and context-switch analysis. Then Quoril writes the takeaways for you.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58368" y="3063240"/>
            <a:ext cx="2697480" cy="1234440"/>
          </a:xfrm>
          <a:prstGeom prst="roundRect">
            <a:avLst>
              <a:gd name="adj" fmla="val 8148"/>
            </a:avLst>
          </a:prstGeom>
          <a:solidFill>
            <a:srgbClr val="0F131A"/>
          </a:solidFill>
          <a:ln w="12700">
            <a:solidFill>
              <a:srgbClr val="242A35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14400" y="3264408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B8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6.2h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914400" y="388620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 TIME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630168" y="3063240"/>
            <a:ext cx="2697480" cy="1234440"/>
          </a:xfrm>
          <a:prstGeom prst="roundRect">
            <a:avLst>
              <a:gd name="adj" fmla="val 8148"/>
            </a:avLst>
          </a:prstGeom>
          <a:solidFill>
            <a:srgbClr val="0F131A"/>
          </a:solidFill>
          <a:ln w="12700">
            <a:solidFill>
              <a:srgbClr val="242A35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886200" y="3264408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6F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83%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3886200" y="388620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PRODUCTIVITY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58368" y="4572000"/>
            <a:ext cx="2697480" cy="1234440"/>
          </a:xfrm>
          <a:prstGeom prst="roundRect">
            <a:avLst>
              <a:gd name="adj" fmla="val 8148"/>
            </a:avLst>
          </a:prstGeom>
          <a:solidFill>
            <a:srgbClr val="0F131A"/>
          </a:solidFill>
          <a:ln w="12700">
            <a:solidFill>
              <a:srgbClr val="242A35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14400" y="4773168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12/15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914400" y="539496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TASKS DONE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30168" y="4572000"/>
            <a:ext cx="2697480" cy="1234440"/>
          </a:xfrm>
          <a:prstGeom prst="roundRect">
            <a:avLst>
              <a:gd name="adj" fmla="val 8148"/>
            </a:avLst>
          </a:prstGeom>
          <a:solidFill>
            <a:srgbClr val="0F131A"/>
          </a:solidFill>
          <a:ln w="12700">
            <a:solidFill>
              <a:srgbClr val="242A35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4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886200" y="4773168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D4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78%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3886200" y="539496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EST. ACCURACY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629400" y="1737360"/>
            <a:ext cx="4903927" cy="4160520"/>
          </a:xfrm>
          <a:prstGeom prst="roundRect">
            <a:avLst>
              <a:gd name="adj" fmla="val 2418"/>
            </a:avLst>
          </a:prstGeom>
          <a:solidFill>
            <a:srgbClr val="141A24"/>
          </a:solidFill>
          <a:ln w="12700">
            <a:solidFill>
              <a:srgbClr val="333B4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4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949440" y="2029968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C6F24D">
              <a:alpha val="16000"/>
            </a:srgbClr>
          </a:solidFill>
          <a:ln w="12700">
            <a:solidFill>
              <a:srgbClr val="C6F24D">
                <a:alpha val="45000"/>
              </a:srgbClr>
            </a:solidFill>
            <a:prstDash val="solid"/>
          </a:ln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6600" y="2167128"/>
            <a:ext cx="182880" cy="18288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7525512" y="2048256"/>
            <a:ext cx="30751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Insights</a:t>
            </a:r>
            <a:endParaRPr lang="en-US" sz="1700" dirty="0"/>
          </a:p>
        </p:txBody>
      </p:sp>
      <p:sp>
        <p:nvSpPr>
          <p:cNvPr id="23" name="Shape 20"/>
          <p:cNvSpPr/>
          <p:nvPr/>
        </p:nvSpPr>
        <p:spPr>
          <a:xfrm>
            <a:off x="10573207" y="2103120"/>
            <a:ext cx="640080" cy="310896"/>
          </a:xfrm>
          <a:prstGeom prst="roundRect">
            <a:avLst>
              <a:gd name="adj" fmla="val 50000"/>
            </a:avLst>
          </a:prstGeom>
          <a:solidFill>
            <a:srgbClr val="11151C"/>
          </a:solidFill>
          <a:ln w="12700">
            <a:solidFill>
              <a:srgbClr val="333B4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0573207" y="2103120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200" kern="0" dirty="0">
                <a:solidFill>
                  <a:srgbClr val="C6F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6949440" y="2880360"/>
            <a:ext cx="4263847" cy="658368"/>
          </a:xfrm>
          <a:prstGeom prst="roundRect">
            <a:avLst>
              <a:gd name="adj" fmla="val 11111"/>
            </a:avLst>
          </a:prstGeom>
          <a:solidFill>
            <a:srgbClr val="11151C"/>
          </a:solidFill>
          <a:ln w="12700">
            <a:solidFill>
              <a:srgbClr val="242A35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7132320" y="3136392"/>
            <a:ext cx="146304" cy="146304"/>
          </a:xfrm>
          <a:prstGeom prst="ellipse">
            <a:avLst/>
          </a:prstGeom>
          <a:solidFill>
            <a:srgbClr val="C6F24D"/>
          </a:solidFill>
          <a:ln/>
        </p:spPr>
      </p:sp>
      <p:sp>
        <p:nvSpPr>
          <p:cNvPr id="27" name="Text 24"/>
          <p:cNvSpPr/>
          <p:nvPr/>
        </p:nvSpPr>
        <p:spPr>
          <a:xfrm>
            <a:off x="7406640" y="2880360"/>
            <a:ext cx="380664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F4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deep-focus peak is 9–11am — protect it.</a:t>
            </a:r>
            <a:endParaRPr lang="en-US" sz="1250" dirty="0"/>
          </a:p>
        </p:txBody>
      </p:sp>
      <p:sp>
        <p:nvSpPr>
          <p:cNvPr id="28" name="Shape 25"/>
          <p:cNvSpPr/>
          <p:nvPr/>
        </p:nvSpPr>
        <p:spPr>
          <a:xfrm>
            <a:off x="6949440" y="3630168"/>
            <a:ext cx="4263847" cy="658368"/>
          </a:xfrm>
          <a:prstGeom prst="roundRect">
            <a:avLst>
              <a:gd name="adj" fmla="val 11111"/>
            </a:avLst>
          </a:prstGeom>
          <a:solidFill>
            <a:srgbClr val="11151C"/>
          </a:solidFill>
          <a:ln w="12700">
            <a:solidFill>
              <a:srgbClr val="242A35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7132320" y="3886200"/>
            <a:ext cx="146304" cy="146304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30" name="Text 27"/>
          <p:cNvSpPr/>
          <p:nvPr/>
        </p:nvSpPr>
        <p:spPr>
          <a:xfrm>
            <a:off x="7406640" y="3630168"/>
            <a:ext cx="380664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F4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Slack fragmented Tuesday: 22 context switches.</a:t>
            </a:r>
            <a:endParaRPr lang="en-US" sz="1250" dirty="0"/>
          </a:p>
        </p:txBody>
      </p:sp>
      <p:sp>
        <p:nvSpPr>
          <p:cNvPr id="31" name="Shape 28"/>
          <p:cNvSpPr/>
          <p:nvPr/>
        </p:nvSpPr>
        <p:spPr>
          <a:xfrm>
            <a:off x="6949440" y="4379976"/>
            <a:ext cx="4263847" cy="658368"/>
          </a:xfrm>
          <a:prstGeom prst="roundRect">
            <a:avLst>
              <a:gd name="adj" fmla="val 11111"/>
            </a:avLst>
          </a:prstGeom>
          <a:solidFill>
            <a:srgbClr val="11151C"/>
          </a:solidFill>
          <a:ln w="12700">
            <a:solidFill>
              <a:srgbClr val="242A35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7132320" y="4636008"/>
            <a:ext cx="146304" cy="146304"/>
          </a:xfrm>
          <a:prstGeom prst="ellipse">
            <a:avLst/>
          </a:prstGeom>
          <a:solidFill>
            <a:srgbClr val="5B8DEF"/>
          </a:solidFill>
          <a:ln/>
        </p:spPr>
      </p:sp>
      <p:sp>
        <p:nvSpPr>
          <p:cNvPr id="33" name="Text 30"/>
          <p:cNvSpPr/>
          <p:nvPr/>
        </p:nvSpPr>
        <p:spPr>
          <a:xfrm>
            <a:off x="7406640" y="4379976"/>
            <a:ext cx="380664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F4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tasks run 31% over estimate on average.</a:t>
            </a:r>
            <a:endParaRPr lang="en-US" sz="1250" dirty="0"/>
          </a:p>
        </p:txBody>
      </p:sp>
      <p:sp>
        <p:nvSpPr>
          <p:cNvPr id="34" name="Shape 31"/>
          <p:cNvSpPr/>
          <p:nvPr/>
        </p:nvSpPr>
        <p:spPr>
          <a:xfrm>
            <a:off x="6949440" y="5129784"/>
            <a:ext cx="4263847" cy="658368"/>
          </a:xfrm>
          <a:prstGeom prst="roundRect">
            <a:avLst>
              <a:gd name="adj" fmla="val 11111"/>
            </a:avLst>
          </a:prstGeom>
          <a:solidFill>
            <a:srgbClr val="11151C"/>
          </a:solidFill>
          <a:ln w="12700">
            <a:solidFill>
              <a:srgbClr val="242A35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7132320" y="5385816"/>
            <a:ext cx="146304" cy="146304"/>
          </a:xfrm>
          <a:prstGeom prst="ellipse">
            <a:avLst/>
          </a:prstGeom>
          <a:solidFill>
            <a:srgbClr val="2DD4A7"/>
          </a:solidFill>
          <a:ln/>
        </p:spPr>
      </p:sp>
      <p:sp>
        <p:nvSpPr>
          <p:cNvPr id="36" name="Text 33"/>
          <p:cNvSpPr/>
          <p:nvPr/>
        </p:nvSpPr>
        <p:spPr>
          <a:xfrm>
            <a:off x="7406640" y="5129784"/>
            <a:ext cx="380664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F4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3-day focus streak — best week this month.</a:t>
            </a:r>
            <a:endParaRPr lang="en-US" sz="1250" dirty="0"/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57200"/>
            <a:ext cx="10874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6F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QUORIL IS DIFFERENT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Quoril</a:t>
            </a:r>
            <a:pPr algn="l" indent="0" marL="0">
              <a:buNone/>
            </a:pPr>
            <a:r>
              <a:rPr lang="en-US" sz="1200" b="1" dirty="0">
                <a:solidFill>
                  <a:srgbClr val="C6F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911535" y="635508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58368" y="768096"/>
            <a:ext cx="1087495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940"/>
              </a:lnSpc>
              <a:buNone/>
            </a:pPr>
            <a:r>
              <a:rPr lang="en-US" sz="2800" b="1" dirty="0">
                <a:solidFill>
                  <a:srgbClr val="F4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Everyone owns one piece. Quoril owns the whole loop.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95528" y="1783080"/>
            <a:ext cx="4206240" cy="4983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5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CAPABILITY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864608" y="1783080"/>
            <a:ext cx="1737360" cy="4983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C6F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QUORIL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601968" y="1783080"/>
            <a:ext cx="2240280" cy="4983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TODOIST / THINGS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842248" y="1783080"/>
            <a:ext cx="1828800" cy="4983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RESCUETIME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0671048" y="1783080"/>
            <a:ext cx="1810512" cy="4983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RIZE / TOGGL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58368" y="2263140"/>
            <a:ext cx="10874959" cy="0"/>
          </a:xfrm>
          <a:prstGeom prst="line">
            <a:avLst/>
          </a:prstGeom>
          <a:noFill/>
          <a:ln w="12700">
            <a:solidFill>
              <a:srgbClr val="333B4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8368" y="2281428"/>
            <a:ext cx="10874959" cy="498348"/>
          </a:xfrm>
          <a:prstGeom prst="rect">
            <a:avLst/>
          </a:prstGeom>
          <a:solidFill>
            <a:srgbClr val="0F131A">
              <a:alpha val="65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795528" y="2281428"/>
            <a:ext cx="4069080" cy="4983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BA1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Kanban + spatial canvas planning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864608" y="2281428"/>
            <a:ext cx="1737360" cy="4983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6F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601968" y="2281428"/>
            <a:ext cx="2240280" cy="4983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842248" y="2281428"/>
            <a:ext cx="1828800" cy="4983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671048" y="2281428"/>
            <a:ext cx="1810512" cy="4983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95528" y="2779776"/>
            <a:ext cx="4069080" cy="4983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BA1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Deep-work focus engine + Pomodoro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864608" y="2779776"/>
            <a:ext cx="1737360" cy="4983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6F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601968" y="2779776"/>
            <a:ext cx="2240280" cy="4983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842248" y="2779776"/>
            <a:ext cx="1828800" cy="4983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671048" y="2779776"/>
            <a:ext cx="1810512" cy="4983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BA1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58368" y="3278124"/>
            <a:ext cx="10874959" cy="498348"/>
          </a:xfrm>
          <a:prstGeom prst="rect">
            <a:avLst/>
          </a:prstGeom>
          <a:solidFill>
            <a:srgbClr val="0F131A">
              <a:alpha val="65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795528" y="3278124"/>
            <a:ext cx="4069080" cy="4983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BA1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app &amp; website tracking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864608" y="3278124"/>
            <a:ext cx="1737360" cy="4983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6F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601968" y="3278124"/>
            <a:ext cx="2240280" cy="4983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842248" y="3278124"/>
            <a:ext cx="1828800" cy="4983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BA1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0671048" y="3278124"/>
            <a:ext cx="1810512" cy="4983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BA1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95528" y="3776472"/>
            <a:ext cx="4069080" cy="4983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BA1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AI-generated insights &amp; reports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4864608" y="3776472"/>
            <a:ext cx="1737360" cy="4983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6F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601968" y="3776472"/>
            <a:ext cx="2240280" cy="4983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842248" y="3776472"/>
            <a:ext cx="1828800" cy="4983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0671048" y="3776472"/>
            <a:ext cx="1810512" cy="4983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658368" y="4274820"/>
            <a:ext cx="10874959" cy="498348"/>
          </a:xfrm>
          <a:prstGeom prst="rect">
            <a:avLst/>
          </a:prstGeom>
          <a:solidFill>
            <a:srgbClr val="0F131A">
              <a:alpha val="65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795528" y="4274820"/>
            <a:ext cx="4069080" cy="4983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BA1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collaboration on plans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4864608" y="4274820"/>
            <a:ext cx="1737360" cy="4983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6F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601968" y="4274820"/>
            <a:ext cx="2240280" cy="4983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8842248" y="4274820"/>
            <a:ext cx="1828800" cy="4983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10671048" y="4274820"/>
            <a:ext cx="1810512" cy="4983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795528" y="4773168"/>
            <a:ext cx="4069080" cy="4983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BA1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Offline-first, on-device privacy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4864608" y="4773168"/>
            <a:ext cx="1737360" cy="4983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6F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6601968" y="4773168"/>
            <a:ext cx="2240280" cy="4983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8842248" y="4773168"/>
            <a:ext cx="1828800" cy="4983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10671048" y="4773168"/>
            <a:ext cx="1810512" cy="4983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658368" y="5271516"/>
            <a:ext cx="10874959" cy="498348"/>
          </a:xfrm>
          <a:prstGeom prst="rect">
            <a:avLst/>
          </a:prstGeom>
          <a:solidFill>
            <a:srgbClr val="0F131A">
              <a:alpha val="65000"/>
            </a:srgbClr>
          </a:solidFill>
          <a:ln/>
        </p:spPr>
      </p:sp>
      <p:sp>
        <p:nvSpPr>
          <p:cNvPr id="46" name="Text 44"/>
          <p:cNvSpPr/>
          <p:nvPr/>
        </p:nvSpPr>
        <p:spPr>
          <a:xfrm>
            <a:off x="795528" y="5271516"/>
            <a:ext cx="4069080" cy="4983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BA1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 layer with an AI you can ask</a:t>
            </a:r>
            <a:endParaRPr lang="en-US" sz="1250" dirty="0"/>
          </a:p>
        </p:txBody>
      </p:sp>
      <p:sp>
        <p:nvSpPr>
          <p:cNvPr id="47" name="Text 45"/>
          <p:cNvSpPr/>
          <p:nvPr/>
        </p:nvSpPr>
        <p:spPr>
          <a:xfrm>
            <a:off x="4864608" y="5271516"/>
            <a:ext cx="1737360" cy="4983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6F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6601968" y="5271516"/>
            <a:ext cx="2240280" cy="4983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8842248" y="5271516"/>
            <a:ext cx="1828800" cy="4983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10671048" y="5271516"/>
            <a:ext cx="1810512" cy="4983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658368" y="5879592"/>
            <a:ext cx="108749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6F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moat is integration.  </a:t>
            </a:r>
            <a:pPr indent="0" marL="0">
              <a:buNone/>
            </a:pPr>
            <a:r>
              <a:rPr lang="en-US" sz="1350" dirty="0">
                <a:solidFill>
                  <a:srgbClr val="9BA1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Planning, doing, measuring — and now managing — in one native, private product.</a:t>
            </a:r>
            <a:endParaRPr lang="en-US" sz="1350" dirty="0"/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57200"/>
            <a:ext cx="10874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6F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STRATEGY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Quoril</a:t>
            </a:r>
            <a:pPr algn="l" indent="0" marL="0">
              <a:buNone/>
            </a:pPr>
            <a:r>
              <a:rPr lang="en-US" sz="1200" b="1" dirty="0">
                <a:solidFill>
                  <a:srgbClr val="C6F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911535" y="635508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58368" y="768096"/>
            <a:ext cx="1087495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730"/>
              </a:lnSpc>
              <a:buNone/>
            </a:pPr>
            <a:r>
              <a:rPr lang="en-US" sz="2600" b="1" dirty="0">
                <a:solidFill>
                  <a:srgbClr val="F4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staged path: adoption first, monetization next, network last.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58368" y="1783080"/>
            <a:ext cx="3417722" cy="3246120"/>
          </a:xfrm>
          <a:prstGeom prst="roundRect">
            <a:avLst>
              <a:gd name="adj" fmla="val 3099"/>
            </a:avLst>
          </a:prstGeom>
          <a:solidFill>
            <a:srgbClr val="0F131A"/>
          </a:solidFill>
          <a:ln w="12700">
            <a:solidFill>
              <a:srgbClr val="C6F24D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32688" y="2057400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11151C"/>
          </a:solidFill>
          <a:ln w="12700">
            <a:solidFill>
              <a:srgbClr val="333B4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2688" y="205740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200" kern="0" dirty="0">
                <a:solidFill>
                  <a:srgbClr val="C6F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 · LIVE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362858" y="2039112"/>
            <a:ext cx="438912" cy="438912"/>
          </a:xfrm>
          <a:prstGeom prst="roundRect">
            <a:avLst>
              <a:gd name="adj" fmla="val 18750"/>
            </a:avLst>
          </a:prstGeom>
          <a:solidFill>
            <a:srgbClr val="C6F24D">
              <a:alpha val="16000"/>
            </a:srgbClr>
          </a:solidFill>
          <a:ln w="12700">
            <a:solidFill>
              <a:srgbClr val="C6F24D">
                <a:alpha val="45000"/>
              </a:srgbClr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4532" y="2170786"/>
            <a:ext cx="175565" cy="175565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932688" y="2496312"/>
            <a:ext cx="286908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932688" y="2971800"/>
            <a:ext cx="28690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6F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 the daily habit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932688" y="3410712"/>
            <a:ext cx="2869082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ts val="1472"/>
              </a:lnSpc>
              <a:spcAft>
                <a:spcPts val="60"/>
              </a:spcAft>
              <a:buSzPct val="100000"/>
              <a:buChar char="▪"/>
            </a:pPr>
            <a:r>
              <a:rPr lang="en-US" sz="1150" dirty="0">
                <a:solidFill>
                  <a:srgbClr val="9BA1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desktop app, free</a:t>
            </a:r>
            <a:endParaRPr lang="en-US" sz="1150" dirty="0"/>
          </a:p>
          <a:p>
            <a:pPr marL="203200" indent="-203200">
              <a:lnSpc>
                <a:spcPts val="1472"/>
              </a:lnSpc>
              <a:spcAft>
                <a:spcPts val="60"/>
              </a:spcAft>
              <a:buSzPct val="100000"/>
              <a:buChar char="▪"/>
            </a:pPr>
            <a:r>
              <a:rPr lang="en-US" sz="1150" dirty="0">
                <a:solidFill>
                  <a:srgbClr val="9BA1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Tasks, focus, canvas &amp; tracking</a:t>
            </a:r>
            <a:endParaRPr lang="en-US" sz="1150" dirty="0"/>
          </a:p>
          <a:p>
            <a:pPr marL="203200" indent="-203200">
              <a:lnSpc>
                <a:spcPts val="1472"/>
              </a:lnSpc>
              <a:spcAft>
                <a:spcPts val="60"/>
              </a:spcAft>
              <a:buSzPct val="100000"/>
              <a:buChar char="▪"/>
            </a:pPr>
            <a:r>
              <a:rPr lang="en-US" sz="1150" dirty="0">
                <a:solidFill>
                  <a:srgbClr val="9BA1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learn from real usage data</a:t>
            </a:r>
            <a:endParaRPr lang="en-US" sz="1150" dirty="0"/>
          </a:p>
          <a:p>
            <a:pPr marL="203200" indent="-203200">
              <a:lnSpc>
                <a:spcPts val="1472"/>
              </a:lnSpc>
              <a:spcAft>
                <a:spcPts val="60"/>
              </a:spcAft>
              <a:buSzPct val="100000"/>
              <a:buChar char="▪"/>
            </a:pPr>
            <a:r>
              <a:rPr lang="en-US" sz="1150" dirty="0">
                <a:solidFill>
                  <a:srgbClr val="9BA1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Builds the top-of-funnel base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4386986" y="1783080"/>
            <a:ext cx="3417722" cy="3246120"/>
          </a:xfrm>
          <a:prstGeom prst="roundRect">
            <a:avLst>
              <a:gd name="adj" fmla="val 3099"/>
            </a:avLst>
          </a:prstGeom>
          <a:solidFill>
            <a:srgbClr val="0F131A"/>
          </a:solidFill>
          <a:ln w="12700">
            <a:solidFill>
              <a:srgbClr val="242A35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4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661306" y="2057400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11151C"/>
          </a:solidFill>
          <a:ln w="12700">
            <a:solidFill>
              <a:srgbClr val="333B4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661306" y="205740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200" kern="0" dirty="0">
                <a:solidFill>
                  <a:srgbClr val="5B8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 · NEXT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7091477" y="2039112"/>
            <a:ext cx="438912" cy="438912"/>
          </a:xfrm>
          <a:prstGeom prst="roundRect">
            <a:avLst>
              <a:gd name="adj" fmla="val 18750"/>
            </a:avLst>
          </a:prstGeom>
          <a:solidFill>
            <a:srgbClr val="5B8DEF">
              <a:alpha val="16000"/>
            </a:srgbClr>
          </a:solidFill>
          <a:ln w="12700">
            <a:solidFill>
              <a:srgbClr val="5B8DEF">
                <a:alpha val="45000"/>
              </a:srgbClr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150" y="2170786"/>
            <a:ext cx="175565" cy="175565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4661306" y="2496312"/>
            <a:ext cx="286908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+ Integrations</a:t>
            </a:r>
            <a:endParaRPr lang="en-US" sz="2200" dirty="0"/>
          </a:p>
        </p:txBody>
      </p:sp>
      <p:sp>
        <p:nvSpPr>
          <p:cNvPr id="20" name="Text 16"/>
          <p:cNvSpPr/>
          <p:nvPr/>
        </p:nvSpPr>
        <p:spPr>
          <a:xfrm>
            <a:off x="4661306" y="2971800"/>
            <a:ext cx="28690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8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Paywalled power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4661306" y="3410712"/>
            <a:ext cx="2869082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ts val="1472"/>
              </a:lnSpc>
              <a:spcAft>
                <a:spcPts val="60"/>
              </a:spcAft>
              <a:buSzPct val="100000"/>
              <a:buChar char="▪"/>
            </a:pPr>
            <a:r>
              <a:rPr lang="en-US" sz="1150" dirty="0">
                <a:solidFill>
                  <a:srgbClr val="9BA1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AI-native features on top of V1</a:t>
            </a:r>
            <a:endParaRPr lang="en-US" sz="1150" dirty="0"/>
          </a:p>
          <a:p>
            <a:pPr marL="203200" indent="-203200">
              <a:lnSpc>
                <a:spcPts val="1472"/>
              </a:lnSpc>
              <a:spcAft>
                <a:spcPts val="60"/>
              </a:spcAft>
              <a:buSzPct val="100000"/>
              <a:buChar char="▪"/>
            </a:pPr>
            <a:r>
              <a:rPr lang="en-US" sz="1150" dirty="0">
                <a:solidFill>
                  <a:srgbClr val="9BA1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Calendar &amp; tool integrations</a:t>
            </a:r>
            <a:endParaRPr lang="en-US" sz="1150" dirty="0"/>
          </a:p>
          <a:p>
            <a:pPr marL="203200" indent="-203200">
              <a:lnSpc>
                <a:spcPts val="1472"/>
              </a:lnSpc>
              <a:spcAft>
                <a:spcPts val="60"/>
              </a:spcAft>
              <a:buSzPct val="100000"/>
              <a:buChar char="▪"/>
            </a:pPr>
            <a:r>
              <a:rPr lang="en-US" sz="1150" dirty="0">
                <a:solidFill>
                  <a:srgbClr val="9BA1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sync across devices</a:t>
            </a:r>
            <a:endParaRPr lang="en-US" sz="1150" dirty="0"/>
          </a:p>
          <a:p>
            <a:pPr marL="203200" indent="-203200">
              <a:lnSpc>
                <a:spcPts val="1472"/>
              </a:lnSpc>
              <a:spcAft>
                <a:spcPts val="60"/>
              </a:spcAft>
              <a:buSzPct val="100000"/>
              <a:buChar char="▪"/>
            </a:pPr>
            <a:r>
              <a:rPr lang="en-US" sz="1150" dirty="0">
                <a:solidFill>
                  <a:srgbClr val="9BA1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Subscription revenue begins</a:t>
            </a:r>
            <a:endParaRPr lang="en-US" sz="1150" dirty="0"/>
          </a:p>
        </p:txBody>
      </p:sp>
      <p:sp>
        <p:nvSpPr>
          <p:cNvPr id="22" name="Shape 18"/>
          <p:cNvSpPr/>
          <p:nvPr/>
        </p:nvSpPr>
        <p:spPr>
          <a:xfrm>
            <a:off x="8115605" y="1783080"/>
            <a:ext cx="3417722" cy="3246120"/>
          </a:xfrm>
          <a:prstGeom prst="roundRect">
            <a:avLst>
              <a:gd name="adj" fmla="val 3099"/>
            </a:avLst>
          </a:prstGeom>
          <a:solidFill>
            <a:srgbClr val="0F131A"/>
          </a:solidFill>
          <a:ln w="12700">
            <a:solidFill>
              <a:srgbClr val="242A35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4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8389925" y="2057400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11151C"/>
          </a:solidFill>
          <a:ln w="12700">
            <a:solidFill>
              <a:srgbClr val="333B48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8389925" y="205740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200" kern="0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V3 · HORIZON</a:t>
            </a:r>
            <a:endParaRPr lang="en-US" sz="950" dirty="0"/>
          </a:p>
        </p:txBody>
      </p:sp>
      <p:sp>
        <p:nvSpPr>
          <p:cNvPr id="25" name="Shape 21"/>
          <p:cNvSpPr/>
          <p:nvPr/>
        </p:nvSpPr>
        <p:spPr>
          <a:xfrm>
            <a:off x="10820095" y="2039112"/>
            <a:ext cx="438912" cy="438912"/>
          </a:xfrm>
          <a:prstGeom prst="roundRect">
            <a:avLst>
              <a:gd name="adj" fmla="val 18750"/>
            </a:avLst>
          </a:prstGeom>
          <a:solidFill>
            <a:srgbClr val="F5A623">
              <a:alpha val="16000"/>
            </a:srgbClr>
          </a:solidFill>
          <a:ln w="12700">
            <a:solidFill>
              <a:srgbClr val="F5A623">
                <a:alpha val="45000"/>
              </a:srgbClr>
            </a:solidFill>
            <a:prstDash val="solid"/>
          </a:ln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51769" y="2170786"/>
            <a:ext cx="175565" cy="175565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8389925" y="2496312"/>
            <a:ext cx="286908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Tokenized</a:t>
            </a:r>
            <a:endParaRPr lang="en-US" sz="2200" dirty="0"/>
          </a:p>
        </p:txBody>
      </p:sp>
      <p:sp>
        <p:nvSpPr>
          <p:cNvPr id="28" name="Text 23"/>
          <p:cNvSpPr/>
          <p:nvPr/>
        </p:nvSpPr>
        <p:spPr>
          <a:xfrm>
            <a:off x="8389925" y="2971800"/>
            <a:ext cx="28690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Gamified rewards</a:t>
            </a:r>
            <a:endParaRPr lang="en-US" sz="1200" dirty="0"/>
          </a:p>
        </p:txBody>
      </p:sp>
      <p:sp>
        <p:nvSpPr>
          <p:cNvPr id="29" name="Text 24"/>
          <p:cNvSpPr/>
          <p:nvPr/>
        </p:nvSpPr>
        <p:spPr>
          <a:xfrm>
            <a:off x="8389925" y="3410712"/>
            <a:ext cx="2869082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ts val="1472"/>
              </a:lnSpc>
              <a:spcAft>
                <a:spcPts val="60"/>
              </a:spcAft>
              <a:buSzPct val="100000"/>
              <a:buChar char="▪"/>
            </a:pPr>
            <a:r>
              <a:rPr lang="en-US" sz="1150" dirty="0">
                <a:solidFill>
                  <a:srgbClr val="9BA1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Rewards tied to real productivity</a:t>
            </a:r>
            <a:endParaRPr lang="en-US" sz="1150" dirty="0"/>
          </a:p>
          <a:p>
            <a:pPr marL="203200" indent="-203200">
              <a:lnSpc>
                <a:spcPts val="1472"/>
              </a:lnSpc>
              <a:spcAft>
                <a:spcPts val="60"/>
              </a:spcAft>
              <a:buSzPct val="100000"/>
              <a:buChar char="▪"/>
            </a:pPr>
            <a:r>
              <a:rPr lang="en-US" sz="1150" dirty="0">
                <a:solidFill>
                  <a:srgbClr val="9BA1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Gamifies consistency &amp; output</a:t>
            </a:r>
            <a:endParaRPr lang="en-US" sz="1150" dirty="0"/>
          </a:p>
          <a:p>
            <a:pPr marL="203200" indent="-203200">
              <a:lnSpc>
                <a:spcPts val="1472"/>
              </a:lnSpc>
              <a:spcAft>
                <a:spcPts val="60"/>
              </a:spcAft>
              <a:buSzPct val="100000"/>
              <a:buChar char="▪"/>
            </a:pPr>
            <a:r>
              <a:rPr lang="en-US" sz="1150" dirty="0">
                <a:solidFill>
                  <a:srgbClr val="9BA1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network flywheel for retention</a:t>
            </a:r>
            <a:endParaRPr lang="en-US" sz="1150" dirty="0"/>
          </a:p>
          <a:p>
            <a:pPr marL="203200" indent="-203200">
              <a:lnSpc>
                <a:spcPts val="1472"/>
              </a:lnSpc>
              <a:spcAft>
                <a:spcPts val="60"/>
              </a:spcAft>
              <a:buSzPct val="100000"/>
              <a:buChar char="▪"/>
            </a:pPr>
            <a:r>
              <a:rPr lang="en-US" sz="1150" dirty="0">
                <a:solidFill>
                  <a:srgbClr val="9BA1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Framed as a long-term north star</a:t>
            </a:r>
            <a:endParaRPr lang="en-US" sz="1150" dirty="0"/>
          </a:p>
        </p:txBody>
      </p:sp>
      <p:sp>
        <p:nvSpPr>
          <p:cNvPr id="30" name="Shape 25"/>
          <p:cNvSpPr/>
          <p:nvPr/>
        </p:nvSpPr>
        <p:spPr>
          <a:xfrm>
            <a:off x="658368" y="5285232"/>
            <a:ext cx="10874959" cy="777240"/>
          </a:xfrm>
          <a:prstGeom prst="roundRect">
            <a:avLst>
              <a:gd name="adj" fmla="val 12941"/>
            </a:avLst>
          </a:prstGeom>
          <a:solidFill>
            <a:srgbClr val="141A24"/>
          </a:solidFill>
          <a:ln w="12700">
            <a:solidFill>
              <a:srgbClr val="333B4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4000"/>
              </a:srgbClr>
            </a:outerShdw>
          </a:effectLst>
        </p:spPr>
      </p:sp>
      <p:sp>
        <p:nvSpPr>
          <p:cNvPr id="31" name="Text 26"/>
          <p:cNvSpPr/>
          <p:nvPr/>
        </p:nvSpPr>
        <p:spPr>
          <a:xfrm>
            <a:off x="1024128" y="5285232"/>
            <a:ext cx="101434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C6F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stage compounds the last:  </a:t>
            </a:r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F4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adoption feeds paid AI, and paid engagement feeds a tokenized network effect.</a:t>
            </a:r>
            <a:endParaRPr lang="en-US" sz="1400" dirty="0"/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57200"/>
            <a:ext cx="10874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6F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FLAGSHIP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Quoril</a:t>
            </a:r>
            <a:pPr algn="l" indent="0" marL="0">
              <a:buNone/>
            </a:pPr>
            <a:r>
              <a:rPr lang="en-US" sz="1200" b="1" dirty="0">
                <a:solidFill>
                  <a:srgbClr val="C6F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911535" y="635508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58368" y="1371600"/>
            <a:ext cx="1087495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4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Quoril </a:t>
            </a:r>
            <a:pPr indent="0" marL="0">
              <a:buNone/>
            </a:pPr>
            <a:r>
              <a:rPr lang="en-US" sz="6000" b="1" dirty="0">
                <a:solidFill>
                  <a:srgbClr val="C6F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Pulse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8595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900" dirty="0">
                <a:solidFill>
                  <a:srgbClr val="F4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org-level operating system — where a whole company plans, executes, and tracks work, and where anyone can just ask what's happening.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58368" y="3931920"/>
            <a:ext cx="3417722" cy="1783080"/>
          </a:xfrm>
          <a:prstGeom prst="roundRect">
            <a:avLst>
              <a:gd name="adj" fmla="val 5641"/>
            </a:avLst>
          </a:prstGeom>
          <a:solidFill>
            <a:srgbClr val="141A24"/>
          </a:solidFill>
          <a:ln w="12700">
            <a:solidFill>
              <a:srgbClr val="333B4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4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32688" y="4206240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C6F24D">
              <a:alpha val="16000"/>
            </a:srgbClr>
          </a:solidFill>
          <a:ln w="12700">
            <a:solidFill>
              <a:srgbClr val="C6F24D">
                <a:alpha val="45000"/>
              </a:srgbClr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848" y="4343400"/>
            <a:ext cx="182880" cy="1828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527048" y="4206240"/>
            <a:ext cx="23204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Whole-hierarchy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932688" y="4800600"/>
            <a:ext cx="286908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10"/>
              </a:lnSpc>
              <a:buNone/>
            </a:pPr>
            <a:r>
              <a:rPr lang="en-US" sz="1150" dirty="0">
                <a:solidFill>
                  <a:srgbClr val="9BA1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team member and every level, from IC to the C-suite, in one system.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386986" y="3931920"/>
            <a:ext cx="3417722" cy="1783080"/>
          </a:xfrm>
          <a:prstGeom prst="roundRect">
            <a:avLst>
              <a:gd name="adj" fmla="val 5641"/>
            </a:avLst>
          </a:prstGeom>
          <a:solidFill>
            <a:srgbClr val="141A24"/>
          </a:solidFill>
          <a:ln w="12700">
            <a:solidFill>
              <a:srgbClr val="333B4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4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661306" y="4206240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C6F24D">
              <a:alpha val="16000"/>
            </a:srgbClr>
          </a:solidFill>
          <a:ln w="12700">
            <a:solidFill>
              <a:srgbClr val="C6F24D">
                <a:alpha val="45000"/>
              </a:srgbClr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8466" y="4343400"/>
            <a:ext cx="182880" cy="1828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255666" y="4206240"/>
            <a:ext cx="23204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Pulse AI inside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4661306" y="4800600"/>
            <a:ext cx="286908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10"/>
              </a:lnSpc>
              <a:buNone/>
            </a:pPr>
            <a:r>
              <a:rPr lang="en-US" sz="1150" dirty="0">
                <a:solidFill>
                  <a:srgbClr val="9BA1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living AI that understands the org's tasks, owners, and status in real time.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8115605" y="3931920"/>
            <a:ext cx="3417722" cy="1783080"/>
          </a:xfrm>
          <a:prstGeom prst="roundRect">
            <a:avLst>
              <a:gd name="adj" fmla="val 5641"/>
            </a:avLst>
          </a:prstGeom>
          <a:solidFill>
            <a:srgbClr val="141A24"/>
          </a:solidFill>
          <a:ln w="12700">
            <a:solidFill>
              <a:srgbClr val="333B4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4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389925" y="4206240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C6F24D">
              <a:alpha val="16000"/>
            </a:srgbClr>
          </a:solidFill>
          <a:ln w="12700">
            <a:solidFill>
              <a:srgbClr val="C6F24D">
                <a:alpha val="45000"/>
              </a:srgbClr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27085" y="4343400"/>
            <a:ext cx="182880" cy="18288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984285" y="4206240"/>
            <a:ext cx="23204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→ execute → track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8389925" y="4800600"/>
            <a:ext cx="286908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10"/>
              </a:lnSpc>
              <a:buNone/>
            </a:pPr>
            <a:r>
              <a:rPr lang="en-US" sz="1150" dirty="0">
                <a:solidFill>
                  <a:srgbClr val="9BA1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individual loop, scaled to coordinate an entire organization.</a:t>
            </a:r>
            <a:endParaRPr lang="en-US" sz="1150" dirty="0"/>
          </a:p>
        </p:txBody>
      </p:sp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57200"/>
            <a:ext cx="10874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6F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QUORIL PULSE · ASK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Quoril</a:t>
            </a:r>
            <a:pPr algn="l" indent="0" marL="0">
              <a:buNone/>
            </a:pPr>
            <a:r>
              <a:rPr lang="en-US" sz="1200" b="1" dirty="0">
                <a:solidFill>
                  <a:srgbClr val="C6F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911535" y="635508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58368" y="768096"/>
            <a:ext cx="1087495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940"/>
              </a:lnSpc>
              <a:buNone/>
            </a:pPr>
            <a:r>
              <a:rPr lang="en-US" sz="2800" b="1" dirty="0">
                <a:solidFill>
                  <a:srgbClr val="F4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Leaders don't chase status. They ask Pulse AI.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58368" y="1554480"/>
            <a:ext cx="5394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30"/>
              </a:lnSpc>
              <a:buNone/>
            </a:pPr>
            <a:r>
              <a:rPr lang="en-US" sz="1450" dirty="0">
                <a:solidFill>
                  <a:srgbClr val="9BA1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more status meetings or spreadsheet archaeology. Anyone in the hierarchy can ask Pulse AI a plain-English question and instantly know what's ongoing, what's blocked, and what's unassigned — across every department.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58368" y="3246120"/>
            <a:ext cx="402336" cy="402336"/>
          </a:xfrm>
          <a:prstGeom prst="roundRect">
            <a:avLst>
              <a:gd name="adj" fmla="val 20455"/>
            </a:avLst>
          </a:prstGeom>
          <a:solidFill>
            <a:srgbClr val="C6F24D">
              <a:alpha val="16000"/>
            </a:srgbClr>
          </a:solidFill>
          <a:ln w="12700">
            <a:solidFill>
              <a:srgbClr val="C6F24D">
                <a:alpha val="45000"/>
              </a:srgbClr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069" y="3366821"/>
            <a:ext cx="160934" cy="16093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07008" y="3227832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4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any status, instantly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1207008" y="3502152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9BA1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“What's in progress in Marketing?” — answered live.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58368" y="4114800"/>
            <a:ext cx="402336" cy="402336"/>
          </a:xfrm>
          <a:prstGeom prst="roundRect">
            <a:avLst>
              <a:gd name="adj" fmla="val 20455"/>
            </a:avLst>
          </a:prstGeom>
          <a:solidFill>
            <a:srgbClr val="C6F24D">
              <a:alpha val="16000"/>
            </a:srgbClr>
          </a:solidFill>
          <a:ln w="12700">
            <a:solidFill>
              <a:srgbClr val="C6F24D">
                <a:alpha val="45000"/>
              </a:srgbClr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069" y="4235501"/>
            <a:ext cx="160934" cy="16093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207008" y="4096512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4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Surface the gaps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1207008" y="4370832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9BA1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unassigned, overdue, or blocked work in seconds.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58368" y="4983480"/>
            <a:ext cx="402336" cy="402336"/>
          </a:xfrm>
          <a:prstGeom prst="roundRect">
            <a:avLst>
              <a:gd name="adj" fmla="val 20455"/>
            </a:avLst>
          </a:prstGeom>
          <a:solidFill>
            <a:srgbClr val="C6F24D">
              <a:alpha val="16000"/>
            </a:srgbClr>
          </a:solidFill>
          <a:ln w="12700">
            <a:solidFill>
              <a:srgbClr val="C6F24D">
                <a:alpha val="45000"/>
              </a:srgbClr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9069" y="5104181"/>
            <a:ext cx="160934" cy="16093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207008" y="4965192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4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 up the whole org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1207008" y="5239512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9BA1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one IC's day to a company-wide view.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446520" y="1737360"/>
            <a:ext cx="5086807" cy="4160520"/>
          </a:xfrm>
          <a:prstGeom prst="roundRect">
            <a:avLst>
              <a:gd name="adj" fmla="val 2418"/>
            </a:avLst>
          </a:prstGeom>
          <a:solidFill>
            <a:srgbClr val="0F131A"/>
          </a:solidFill>
          <a:ln w="12700">
            <a:solidFill>
              <a:srgbClr val="242A35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4000"/>
              </a:srgbClr>
            </a:outerShdw>
          </a:effectLst>
        </p:spPr>
      </p:sp>
      <p:sp>
        <p:nvSpPr>
          <p:cNvPr id="20" name="Text 15"/>
          <p:cNvSpPr/>
          <p:nvPr/>
        </p:nvSpPr>
        <p:spPr>
          <a:xfrm>
            <a:off x="6766560" y="1965960"/>
            <a:ext cx="444672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Pulse</a:t>
            </a:r>
            <a:pPr indent="0" marL="0">
              <a:buNone/>
            </a:pPr>
            <a:r>
              <a:rPr lang="en-US" sz="1400" b="1" dirty="0">
                <a:solidFill>
                  <a:srgbClr val="C6F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AI</a:t>
            </a:r>
            <a:endParaRPr lang="en-US" sz="1400" dirty="0"/>
          </a:p>
        </p:txBody>
      </p:sp>
      <p:sp>
        <p:nvSpPr>
          <p:cNvPr id="21" name="Shape 16"/>
          <p:cNvSpPr/>
          <p:nvPr/>
        </p:nvSpPr>
        <p:spPr>
          <a:xfrm>
            <a:off x="6766560" y="2395728"/>
            <a:ext cx="4446727" cy="0"/>
          </a:xfrm>
          <a:prstGeom prst="line">
            <a:avLst/>
          </a:prstGeom>
          <a:noFill/>
          <a:ln w="12700">
            <a:solidFill>
              <a:srgbClr val="242A35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7909560" y="2606040"/>
            <a:ext cx="3258007" cy="548640"/>
          </a:xfrm>
          <a:prstGeom prst="roundRect">
            <a:avLst>
              <a:gd name="adj" fmla="val 23333"/>
            </a:avLst>
          </a:prstGeom>
          <a:solidFill>
            <a:srgbClr val="11151C"/>
          </a:solidFill>
          <a:ln w="12700">
            <a:solidFill>
              <a:srgbClr val="333B48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8046720" y="2606040"/>
            <a:ext cx="298368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4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blocking the product launch?</a:t>
            </a:r>
            <a:endParaRPr lang="en-US" sz="1150" dirty="0"/>
          </a:p>
        </p:txBody>
      </p:sp>
      <p:sp>
        <p:nvSpPr>
          <p:cNvPr id="24" name="Shape 19"/>
          <p:cNvSpPr/>
          <p:nvPr/>
        </p:nvSpPr>
        <p:spPr>
          <a:xfrm>
            <a:off x="6766560" y="3310128"/>
            <a:ext cx="3806647" cy="1783080"/>
          </a:xfrm>
          <a:prstGeom prst="roundRect">
            <a:avLst>
              <a:gd name="adj" fmla="val 7179"/>
            </a:avLst>
          </a:prstGeom>
          <a:solidFill>
            <a:srgbClr val="141A24"/>
          </a:solidFill>
          <a:ln w="12700">
            <a:solidFill>
              <a:srgbClr val="C6F24D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6995160" y="3474720"/>
            <a:ext cx="3349447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b="1" dirty="0">
                <a:solidFill>
                  <a:srgbClr val="F4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blockers on Launch (Aug 12):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9BA1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Security review — unassigned in Backend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9BA1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Pricing page — overdue 2d, owner: Aisha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F4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of 5 workstreams on track. Assign it?</a:t>
            </a:r>
            <a:endParaRPr lang="en-US" sz="1150" dirty="0"/>
          </a:p>
        </p:txBody>
      </p:sp>
      <p:sp>
        <p:nvSpPr>
          <p:cNvPr id="26" name="Shape 21"/>
          <p:cNvSpPr/>
          <p:nvPr/>
        </p:nvSpPr>
        <p:spPr>
          <a:xfrm>
            <a:off x="6766560" y="5330952"/>
            <a:ext cx="4446727" cy="457200"/>
          </a:xfrm>
          <a:prstGeom prst="roundRect">
            <a:avLst>
              <a:gd name="adj" fmla="val 50000"/>
            </a:avLst>
          </a:prstGeom>
          <a:solidFill>
            <a:srgbClr val="11151C"/>
          </a:solidFill>
          <a:ln w="12700">
            <a:solidFill>
              <a:srgbClr val="333B48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6995160" y="5330952"/>
            <a:ext cx="380664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Pulse AI…</a:t>
            </a:r>
            <a:endParaRPr lang="en-US" sz="1100" dirty="0"/>
          </a:p>
        </p:txBody>
      </p:sp>
      <p:sp>
        <p:nvSpPr>
          <p:cNvPr id="28" name="Shape 23"/>
          <p:cNvSpPr/>
          <p:nvPr/>
        </p:nvSpPr>
        <p:spPr>
          <a:xfrm>
            <a:off x="10820095" y="5372100"/>
            <a:ext cx="365760" cy="365760"/>
          </a:xfrm>
          <a:prstGeom prst="ellipse">
            <a:avLst/>
          </a:prstGeom>
          <a:solidFill>
            <a:srgbClr val="C6F24D"/>
          </a:solidFill>
          <a:ln/>
        </p:spPr>
      </p:sp>
      <p:sp>
        <p:nvSpPr>
          <p:cNvPr id="29" name="Text 24"/>
          <p:cNvSpPr/>
          <p:nvPr/>
        </p:nvSpPr>
        <p:spPr>
          <a:xfrm>
            <a:off x="10820095" y="5349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0D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300" dirty="0"/>
          </a:p>
        </p:txBody>
      </p:sp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57200"/>
            <a:ext cx="10874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6F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QUORIL PULSE · ACT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Quoril</a:t>
            </a:r>
            <a:pPr algn="l" indent="0" marL="0">
              <a:buNone/>
            </a:pPr>
            <a:r>
              <a:rPr lang="en-US" sz="1200" b="1" dirty="0">
                <a:solidFill>
                  <a:srgbClr val="C6F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911535" y="635508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58368" y="768096"/>
            <a:ext cx="1087495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940"/>
              </a:lnSpc>
              <a:buNone/>
            </a:pPr>
            <a:r>
              <a:rPr lang="en-US" sz="2800" b="1" dirty="0">
                <a:solidFill>
                  <a:srgbClr val="F4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Pulse AI doesn't just report — it runs the work.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58368" y="1783080"/>
            <a:ext cx="5282032" cy="3977640"/>
          </a:xfrm>
          <a:prstGeom prst="roundRect">
            <a:avLst>
              <a:gd name="adj" fmla="val 2529"/>
            </a:avLst>
          </a:prstGeom>
          <a:solidFill>
            <a:srgbClr val="0F131A"/>
          </a:solidFill>
          <a:ln w="12700">
            <a:solidFill>
              <a:srgbClr val="242A35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78408" y="2075688"/>
            <a:ext cx="502920" cy="502920"/>
          </a:xfrm>
          <a:prstGeom prst="roundRect">
            <a:avLst>
              <a:gd name="adj" fmla="val 16364"/>
            </a:avLst>
          </a:prstGeom>
          <a:solidFill>
            <a:srgbClr val="C6F24D">
              <a:alpha val="16000"/>
            </a:srgbClr>
          </a:solidFill>
          <a:ln w="12700">
            <a:solidFill>
              <a:srgbClr val="C6F24D">
                <a:alpha val="45000"/>
              </a:srgbClr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284" y="2226564"/>
            <a:ext cx="201168" cy="2011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18488" y="2112264"/>
            <a:ext cx="4093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&amp; assign by asking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1024128" y="2834640"/>
            <a:ext cx="4550512" cy="566928"/>
          </a:xfrm>
          <a:prstGeom prst="roundRect">
            <a:avLst>
              <a:gd name="adj" fmla="val 19355"/>
            </a:avLst>
          </a:prstGeom>
          <a:solidFill>
            <a:srgbClr val="11151C"/>
          </a:solidFill>
          <a:ln w="12700">
            <a:solidFill>
              <a:srgbClr val="333B4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207008" y="2834640"/>
            <a:ext cx="41847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F4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“Assign a security review to the Backend team, due Friday.”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1024128" y="3447288"/>
            <a:ext cx="455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6F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1024128" y="3794760"/>
            <a:ext cx="4550512" cy="1371600"/>
          </a:xfrm>
          <a:prstGeom prst="roundRect">
            <a:avLst>
              <a:gd name="adj" fmla="val 6667"/>
            </a:avLst>
          </a:prstGeom>
          <a:solidFill>
            <a:srgbClr val="141A24"/>
          </a:solidFill>
          <a:ln w="12700">
            <a:solidFill>
              <a:srgbClr val="C6F24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252728" y="3977640"/>
            <a:ext cx="4093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F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Task created  </a:t>
            </a:r>
            <a:pPr indent="0" marL="0">
              <a:buNone/>
            </a:pPr>
            <a:r>
              <a:rPr lang="en-US" sz="1200" dirty="0">
                <a:solidFill>
                  <a:srgbClr val="9BA1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Backend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252728" y="4325112"/>
            <a:ext cx="4093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review — API surface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1252728" y="4672584"/>
            <a:ext cx="4093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1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Owner: Backend team    </a:t>
            </a:r>
            <a:pPr indent="0" marL="0">
              <a:buNone/>
            </a:pPr>
            <a:r>
              <a:rPr lang="en-US" sz="1100" dirty="0">
                <a:solidFill>
                  <a:srgbClr val="9BA1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Due: Fri    </a:t>
            </a:r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Priority: High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251296" y="1783080"/>
            <a:ext cx="5282032" cy="3977640"/>
          </a:xfrm>
          <a:prstGeom prst="roundRect">
            <a:avLst>
              <a:gd name="adj" fmla="val 2529"/>
            </a:avLst>
          </a:prstGeom>
          <a:solidFill>
            <a:srgbClr val="0F131A"/>
          </a:solidFill>
          <a:ln w="12700">
            <a:solidFill>
              <a:srgbClr val="242A35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4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571336" y="2075688"/>
            <a:ext cx="502920" cy="502920"/>
          </a:xfrm>
          <a:prstGeom prst="roundRect">
            <a:avLst>
              <a:gd name="adj" fmla="val 16364"/>
            </a:avLst>
          </a:prstGeom>
          <a:solidFill>
            <a:srgbClr val="C6F24D">
              <a:alpha val="16000"/>
            </a:srgbClr>
          </a:solidFill>
          <a:ln w="12700">
            <a:solidFill>
              <a:srgbClr val="C6F24D">
                <a:alpha val="45000"/>
              </a:srgbClr>
            </a:solidFill>
            <a:prstDash val="solid"/>
          </a:ln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2212" y="2226564"/>
            <a:ext cx="201168" cy="201168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7211416" y="2112264"/>
            <a:ext cx="4093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Meetings become tasks</a:t>
            </a:r>
            <a:endParaRPr lang="en-US" sz="1700" dirty="0"/>
          </a:p>
        </p:txBody>
      </p:sp>
      <p:sp>
        <p:nvSpPr>
          <p:cNvPr id="21" name="Text 17"/>
          <p:cNvSpPr/>
          <p:nvPr/>
        </p:nvSpPr>
        <p:spPr>
          <a:xfrm>
            <a:off x="6617056" y="2788920"/>
            <a:ext cx="45505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9BA1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Pulse AI reads and understands meeting transcripts, then creates and updates tasks automatically — nothing said out loud gets lost.</a:t>
            </a:r>
            <a:endParaRPr lang="en-US" sz="1250" dirty="0"/>
          </a:p>
        </p:txBody>
      </p:sp>
      <p:sp>
        <p:nvSpPr>
          <p:cNvPr id="22" name="Shape 18"/>
          <p:cNvSpPr/>
          <p:nvPr/>
        </p:nvSpPr>
        <p:spPr>
          <a:xfrm>
            <a:off x="6617056" y="3749040"/>
            <a:ext cx="4550512" cy="566928"/>
          </a:xfrm>
          <a:prstGeom prst="roundRect">
            <a:avLst>
              <a:gd name="adj" fmla="val 12903"/>
            </a:avLst>
          </a:prstGeom>
          <a:solidFill>
            <a:srgbClr val="11151C"/>
          </a:solidFill>
          <a:ln w="12700">
            <a:solidFill>
              <a:srgbClr val="242A35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6799936" y="3749040"/>
            <a:ext cx="41847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“Jon will ship the pricing page by Wed”  →  Task · Jon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6617056" y="4407408"/>
            <a:ext cx="4550512" cy="566928"/>
          </a:xfrm>
          <a:prstGeom prst="roundRect">
            <a:avLst>
              <a:gd name="adj" fmla="val 12903"/>
            </a:avLst>
          </a:prstGeom>
          <a:solidFill>
            <a:srgbClr val="11151C"/>
          </a:solidFill>
          <a:ln w="12700">
            <a:solidFill>
              <a:srgbClr val="242A35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6799936" y="4407408"/>
            <a:ext cx="41847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“We need legal to review the ToS”  →  Task · Legal</a:t>
            </a:r>
            <a:endParaRPr lang="en-US" sz="1100" dirty="0"/>
          </a:p>
        </p:txBody>
      </p:sp>
      <p:sp>
        <p:nvSpPr>
          <p:cNvPr id="26" name="Shape 22"/>
          <p:cNvSpPr/>
          <p:nvPr/>
        </p:nvSpPr>
        <p:spPr>
          <a:xfrm>
            <a:off x="6617056" y="5065776"/>
            <a:ext cx="4550512" cy="566928"/>
          </a:xfrm>
          <a:prstGeom prst="roundRect">
            <a:avLst>
              <a:gd name="adj" fmla="val 12903"/>
            </a:avLst>
          </a:prstGeom>
          <a:solidFill>
            <a:srgbClr val="11151C"/>
          </a:solidFill>
          <a:ln w="12700">
            <a:solidFill>
              <a:srgbClr val="242A35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6799936" y="5065776"/>
            <a:ext cx="41847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“Push the beta to next sprint”  →  Updated due date</a:t>
            </a:r>
            <a:endParaRPr lang="en-US" sz="1100" dirty="0"/>
          </a:p>
        </p:txBody>
      </p:sp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57200"/>
            <a:ext cx="10874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6F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Quoril</a:t>
            </a:r>
            <a:pPr algn="l" indent="0" marL="0">
              <a:buNone/>
            </a:pPr>
            <a:r>
              <a:rPr lang="en-US" sz="1200" b="1" dirty="0">
                <a:solidFill>
                  <a:srgbClr val="C6F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911535" y="635508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58368" y="768096"/>
            <a:ext cx="1087495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940"/>
              </a:lnSpc>
              <a:buNone/>
            </a:pPr>
            <a:r>
              <a:rPr lang="en-US" sz="2800" b="1" dirty="0">
                <a:solidFill>
                  <a:srgbClr val="F4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 is peaking. The tooling is finally ready.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58368" y="1874520"/>
            <a:ext cx="2485568" cy="2651760"/>
          </a:xfrm>
          <a:prstGeom prst="roundRect">
            <a:avLst>
              <a:gd name="adj" fmla="val 4047"/>
            </a:avLst>
          </a:prstGeom>
          <a:solidFill>
            <a:srgbClr val="0F131A"/>
          </a:solidFill>
          <a:ln w="12700">
            <a:solidFill>
              <a:srgbClr val="242A35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148840"/>
            <a:ext cx="475488" cy="475488"/>
          </a:xfrm>
          <a:prstGeom prst="roundRect">
            <a:avLst>
              <a:gd name="adj" fmla="val 17308"/>
            </a:avLst>
          </a:prstGeom>
          <a:solidFill>
            <a:srgbClr val="C6F24D">
              <a:alpha val="16000"/>
            </a:srgbClr>
          </a:solidFill>
          <a:ln w="12700">
            <a:solidFill>
              <a:srgbClr val="C6F24D">
                <a:alpha val="45000"/>
              </a:srgbClr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046" y="2291486"/>
            <a:ext cx="190195" cy="19019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14400" y="2788920"/>
            <a:ext cx="19735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F4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 is permanent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914400" y="3355848"/>
            <a:ext cx="19735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9BA1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lives on the desktop; individuals — not IT — buy the tools that shape their day.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454832" y="1874520"/>
            <a:ext cx="2485568" cy="2651760"/>
          </a:xfrm>
          <a:prstGeom prst="roundRect">
            <a:avLst>
              <a:gd name="adj" fmla="val 4047"/>
            </a:avLst>
          </a:prstGeom>
          <a:solidFill>
            <a:srgbClr val="0F131A"/>
          </a:solidFill>
          <a:ln w="12700">
            <a:solidFill>
              <a:srgbClr val="242A35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4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710864" y="2148840"/>
            <a:ext cx="475488" cy="475488"/>
          </a:xfrm>
          <a:prstGeom prst="roundRect">
            <a:avLst>
              <a:gd name="adj" fmla="val 17308"/>
            </a:avLst>
          </a:prstGeom>
          <a:solidFill>
            <a:srgbClr val="C6F24D">
              <a:alpha val="16000"/>
            </a:srgbClr>
          </a:solidFill>
          <a:ln w="12700">
            <a:solidFill>
              <a:srgbClr val="C6F24D">
                <a:alpha val="45000"/>
              </a:srgbClr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3510" y="2291486"/>
            <a:ext cx="190195" cy="190195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710864" y="2788920"/>
            <a:ext cx="19735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F4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 in crisis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3710864" y="3355848"/>
            <a:ext cx="19735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9BA1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Digital-wellbeing went mainstream, but stayed siloed on phones — not where deep work happens.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51296" y="1874520"/>
            <a:ext cx="2485568" cy="2651760"/>
          </a:xfrm>
          <a:prstGeom prst="roundRect">
            <a:avLst>
              <a:gd name="adj" fmla="val 4047"/>
            </a:avLst>
          </a:prstGeom>
          <a:solidFill>
            <a:srgbClr val="0F131A"/>
          </a:solidFill>
          <a:ln w="12700">
            <a:solidFill>
              <a:srgbClr val="242A35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4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507328" y="2148840"/>
            <a:ext cx="475488" cy="475488"/>
          </a:xfrm>
          <a:prstGeom prst="roundRect">
            <a:avLst>
              <a:gd name="adj" fmla="val 17308"/>
            </a:avLst>
          </a:prstGeom>
          <a:solidFill>
            <a:srgbClr val="C6F24D">
              <a:alpha val="16000"/>
            </a:srgbClr>
          </a:solidFill>
          <a:ln w="12700">
            <a:solidFill>
              <a:srgbClr val="C6F24D">
                <a:alpha val="45000"/>
              </a:srgbClr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9974" y="2291486"/>
            <a:ext cx="190195" cy="190195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507328" y="2788920"/>
            <a:ext cx="19735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F4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Local-first matured</a:t>
            </a:r>
            <a:endParaRPr lang="en-US" sz="1450" dirty="0"/>
          </a:p>
        </p:txBody>
      </p:sp>
      <p:sp>
        <p:nvSpPr>
          <p:cNvPr id="20" name="Text 15"/>
          <p:cNvSpPr/>
          <p:nvPr/>
        </p:nvSpPr>
        <p:spPr>
          <a:xfrm>
            <a:off x="6507328" y="3355848"/>
            <a:ext cx="19735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9BA1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Electron + SQLite + real-time sync make a fast, private desktop app shippable by a small team.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9047759" y="1874520"/>
            <a:ext cx="2485568" cy="2651760"/>
          </a:xfrm>
          <a:prstGeom prst="roundRect">
            <a:avLst>
              <a:gd name="adj" fmla="val 4047"/>
            </a:avLst>
          </a:prstGeom>
          <a:solidFill>
            <a:srgbClr val="0F131A"/>
          </a:solidFill>
          <a:ln w="12700">
            <a:solidFill>
              <a:srgbClr val="242A35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4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9303791" y="2148840"/>
            <a:ext cx="475488" cy="475488"/>
          </a:xfrm>
          <a:prstGeom prst="roundRect">
            <a:avLst>
              <a:gd name="adj" fmla="val 17308"/>
            </a:avLst>
          </a:prstGeom>
          <a:solidFill>
            <a:srgbClr val="C6F24D">
              <a:alpha val="16000"/>
            </a:srgbClr>
          </a:solidFill>
          <a:ln w="12700">
            <a:solidFill>
              <a:srgbClr val="C6F24D">
                <a:alpha val="45000"/>
              </a:srgbClr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46438" y="2291486"/>
            <a:ext cx="190195" cy="190195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303791" y="2788920"/>
            <a:ext cx="19735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F4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makes org-legible</a:t>
            </a:r>
            <a:endParaRPr lang="en-US" sz="1450" dirty="0"/>
          </a:p>
        </p:txBody>
      </p:sp>
      <p:sp>
        <p:nvSpPr>
          <p:cNvPr id="25" name="Text 19"/>
          <p:cNvSpPr/>
          <p:nvPr/>
        </p:nvSpPr>
        <p:spPr>
          <a:xfrm>
            <a:off x="9303791" y="3355848"/>
            <a:ext cx="19735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9BA1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LLMs can finally read tasks &amp; transcripts and answer “what's happening?” — Pulse's core bet.</a:t>
            </a:r>
            <a:endParaRPr lang="en-US" sz="1100" dirty="0"/>
          </a:p>
        </p:txBody>
      </p:sp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57200"/>
            <a:ext cx="10874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6F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Quoril</a:t>
            </a:r>
            <a:pPr algn="l" indent="0" marL="0">
              <a:buNone/>
            </a:pPr>
            <a:r>
              <a:rPr lang="en-US" sz="1200" b="1" dirty="0">
                <a:solidFill>
                  <a:srgbClr val="C6F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911535" y="635508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58368" y="768096"/>
            <a:ext cx="1087495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940"/>
              </a:lnSpc>
              <a:buNone/>
            </a:pPr>
            <a:r>
              <a:rPr lang="en-US" sz="2800" b="1" dirty="0">
                <a:solidFill>
                  <a:srgbClr val="F4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large, expanding wedge — with an org-scale prize.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58368" y="1783080"/>
            <a:ext cx="5212080" cy="1234440"/>
          </a:xfrm>
          <a:prstGeom prst="roundRect">
            <a:avLst>
              <a:gd name="adj" fmla="val 8148"/>
            </a:avLst>
          </a:prstGeom>
          <a:solidFill>
            <a:srgbClr val="0F131A"/>
          </a:solidFill>
          <a:ln w="12700">
            <a:solidFill>
              <a:srgbClr val="333B4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4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19659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b="1" spc="8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 · GLOBAL PRODUCTIVITY &amp; COLLABORATION SOFTWARE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914400" y="233172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$115B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978408" y="3154680"/>
            <a:ext cx="4572000" cy="1234440"/>
          </a:xfrm>
          <a:prstGeom prst="roundRect">
            <a:avLst>
              <a:gd name="adj" fmla="val 8148"/>
            </a:avLst>
          </a:prstGeom>
          <a:solidFill>
            <a:srgbClr val="0F131A"/>
          </a:solidFill>
          <a:ln w="12700">
            <a:solidFill>
              <a:srgbClr val="333B4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234440" y="33375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b="1" spc="8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 · DESKTOP FOCUS, TRACKING &amp; TEAM PLANNING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234440" y="370332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5B8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$12B</a:t>
            </a:r>
            <a:endParaRPr lang="en-US" sz="3200" dirty="0"/>
          </a:p>
        </p:txBody>
      </p:sp>
      <p:sp>
        <p:nvSpPr>
          <p:cNvPr id="12" name="Shape 10"/>
          <p:cNvSpPr/>
          <p:nvPr/>
        </p:nvSpPr>
        <p:spPr>
          <a:xfrm>
            <a:off x="1298448" y="4526280"/>
            <a:ext cx="3931920" cy="1234440"/>
          </a:xfrm>
          <a:prstGeom prst="roundRect">
            <a:avLst>
              <a:gd name="adj" fmla="val 8148"/>
            </a:avLst>
          </a:prstGeom>
          <a:solidFill>
            <a:srgbClr val="0F131A"/>
          </a:solidFill>
          <a:ln w="12700">
            <a:solidFill>
              <a:srgbClr val="C6F24D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554480" y="47091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b="1" spc="8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 · 3-YR OBTAINABLE (PRO + PULSE SEATS)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554480" y="507492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6F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$60M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6766560" y="1783080"/>
            <a:ext cx="476676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C6F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LAND-AND-EXPAND MOTION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766560" y="2194560"/>
            <a:ext cx="4766767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ts val="1728"/>
              </a:lnSpc>
              <a:spcAft>
                <a:spcPts val="120"/>
              </a:spcAft>
              <a:buSzPct val="100000"/>
              <a:buChar char="▪"/>
            </a:pPr>
            <a:r>
              <a:rPr lang="en-US" sz="1350" dirty="0">
                <a:solidFill>
                  <a:srgbClr val="9BA1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 bottom-up with the free individual app</a:t>
            </a:r>
            <a:endParaRPr lang="en-US" sz="1350" dirty="0"/>
          </a:p>
          <a:p>
            <a:pPr marL="203200" indent="-203200">
              <a:lnSpc>
                <a:spcPts val="1728"/>
              </a:lnSpc>
              <a:spcAft>
                <a:spcPts val="120"/>
              </a:spcAft>
              <a:buSzPct val="100000"/>
              <a:buChar char="▪"/>
            </a:pPr>
            <a:r>
              <a:rPr lang="en-US" sz="1350" dirty="0">
                <a:solidFill>
                  <a:srgbClr val="9BA1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Expand to paid AI features and cross-device sync</a:t>
            </a:r>
            <a:endParaRPr lang="en-US" sz="1350" dirty="0"/>
          </a:p>
          <a:p>
            <a:pPr marL="203200" indent="-203200">
              <a:lnSpc>
                <a:spcPts val="1728"/>
              </a:lnSpc>
              <a:spcAft>
                <a:spcPts val="120"/>
              </a:spcAft>
              <a:buSzPct val="100000"/>
              <a:buChar char="▪"/>
            </a:pPr>
            <a:r>
              <a:rPr lang="en-US" sz="1350" dirty="0">
                <a:solidFill>
                  <a:srgbClr val="9BA1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 teams into Quoril Pulse — per-seat org revenue</a:t>
            </a:r>
            <a:endParaRPr lang="en-US" sz="1350" dirty="0"/>
          </a:p>
          <a:p>
            <a:pPr marL="203200" indent="-203200">
              <a:lnSpc>
                <a:spcPts val="1728"/>
              </a:lnSpc>
              <a:spcAft>
                <a:spcPts val="120"/>
              </a:spcAft>
              <a:buSzPct val="100000"/>
              <a:buChar char="▪"/>
            </a:pPr>
            <a:r>
              <a:rPr lang="en-US" sz="1350" dirty="0">
                <a:solidFill>
                  <a:srgbClr val="9BA1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Pulse re-rates the opportunity from prosumer to enterprise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766560" y="4892040"/>
            <a:ext cx="476676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Figures are directional estimates for discussion, triangulated from public productivity-software market sizing; not audited.</a:t>
            </a:r>
            <a:endParaRPr lang="en-US" sz="1000" dirty="0"/>
          </a:p>
        </p:txBody>
      </p:sp>
    </p:spTree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57200"/>
            <a:ext cx="10874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6F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MODEL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Quoril</a:t>
            </a:r>
            <a:pPr algn="l" indent="0" marL="0">
              <a:buNone/>
            </a:pPr>
            <a:r>
              <a:rPr lang="en-US" sz="1200" b="1" dirty="0">
                <a:solidFill>
                  <a:srgbClr val="C6F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911535" y="635508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58368" y="768096"/>
            <a:ext cx="1087495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940"/>
              </a:lnSpc>
              <a:buNone/>
            </a:pPr>
            <a:r>
              <a:rPr lang="en-US" sz="2800" b="1" dirty="0">
                <a:solidFill>
                  <a:srgbClr val="F4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habit → paid power → org platform.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58368" y="1783080"/>
            <a:ext cx="3417722" cy="3200400"/>
          </a:xfrm>
          <a:prstGeom prst="roundRect">
            <a:avLst>
              <a:gd name="adj" fmla="val 3143"/>
            </a:avLst>
          </a:prstGeom>
          <a:solidFill>
            <a:srgbClr val="0F131A"/>
          </a:solidFill>
          <a:ln w="12700">
            <a:solidFill>
              <a:srgbClr val="242A35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4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50976" y="2057400"/>
            <a:ext cx="286908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BA1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50976" y="2441448"/>
            <a:ext cx="286908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</a:t>
            </a:r>
            <a:pPr indent="0" marL="0">
              <a:buNone/>
            </a:pP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950976" y="3154680"/>
            <a:ext cx="2832506" cy="0"/>
          </a:xfrm>
          <a:prstGeom prst="line">
            <a:avLst/>
          </a:prstGeom>
          <a:noFill/>
          <a:ln w="12700">
            <a:solidFill>
              <a:srgbClr val="242A3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50976" y="3319272"/>
            <a:ext cx="2832506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ts val="1472"/>
              </a:lnSpc>
              <a:spcAft>
                <a:spcPts val="80"/>
              </a:spcAft>
              <a:buSzPct val="100000"/>
              <a:buChar char="▪"/>
            </a:pPr>
            <a:r>
              <a:rPr lang="en-US" sz="1150" dirty="0">
                <a:solidFill>
                  <a:srgbClr val="9BA1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desktop app</a:t>
            </a:r>
            <a:endParaRPr lang="en-US" sz="1150" dirty="0"/>
          </a:p>
          <a:p>
            <a:pPr marL="203200" indent="-203200">
              <a:lnSpc>
                <a:spcPts val="1472"/>
              </a:lnSpc>
              <a:spcAft>
                <a:spcPts val="80"/>
              </a:spcAft>
              <a:buSzPct val="100000"/>
              <a:buChar char="▪"/>
            </a:pPr>
            <a:r>
              <a:rPr lang="en-US" sz="1150" dirty="0">
                <a:solidFill>
                  <a:srgbClr val="9BA1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Tasks, focus, canvas, tracking</a:t>
            </a:r>
            <a:endParaRPr lang="en-US" sz="1150" dirty="0"/>
          </a:p>
          <a:p>
            <a:pPr marL="203200" indent="-203200">
              <a:lnSpc>
                <a:spcPts val="1472"/>
              </a:lnSpc>
              <a:spcAft>
                <a:spcPts val="80"/>
              </a:spcAft>
              <a:buSzPct val="100000"/>
              <a:buChar char="▪"/>
            </a:pPr>
            <a:r>
              <a:rPr lang="en-US" sz="1150" dirty="0">
                <a:solidFill>
                  <a:srgbClr val="9BA1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device</a:t>
            </a:r>
            <a:endParaRPr lang="en-US" sz="1150" dirty="0"/>
          </a:p>
          <a:p>
            <a:pPr marL="203200" indent="-203200">
              <a:lnSpc>
                <a:spcPts val="1472"/>
              </a:lnSpc>
              <a:spcAft>
                <a:spcPts val="80"/>
              </a:spcAft>
              <a:buSzPct val="100000"/>
              <a:buChar char="▪"/>
            </a:pPr>
            <a:r>
              <a:rPr lang="en-US" sz="1150" dirty="0">
                <a:solidFill>
                  <a:srgbClr val="9BA1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Top-of-funnel engine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86986" y="1783080"/>
            <a:ext cx="3417722" cy="3200400"/>
          </a:xfrm>
          <a:prstGeom prst="roundRect">
            <a:avLst>
              <a:gd name="adj" fmla="val 3143"/>
            </a:avLst>
          </a:prstGeom>
          <a:solidFill>
            <a:srgbClr val="0F131A"/>
          </a:solidFill>
          <a:ln w="12700">
            <a:solidFill>
              <a:srgbClr val="C6F24D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4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79594" y="2057400"/>
            <a:ext cx="286908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6F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79594" y="2441448"/>
            <a:ext cx="286908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</a:t>
            </a:r>
            <a:pPr indent="0" marL="0">
              <a:buNone/>
            </a:pPr>
            <a:r>
              <a:rPr lang="en-US" sz="1300" dirty="0">
                <a:solidFill>
                  <a:srgbClr val="9BA1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/mo</a:t>
            </a:r>
            <a:endParaRPr 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4679594" y="3154680"/>
            <a:ext cx="2832506" cy="0"/>
          </a:xfrm>
          <a:prstGeom prst="line">
            <a:avLst/>
          </a:prstGeom>
          <a:noFill/>
          <a:ln w="12700">
            <a:solidFill>
              <a:srgbClr val="242A3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79594" y="3319272"/>
            <a:ext cx="2832506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ts val="1472"/>
              </a:lnSpc>
              <a:spcAft>
                <a:spcPts val="80"/>
              </a:spcAft>
              <a:buSzPct val="100000"/>
              <a:buChar char="▪"/>
            </a:pPr>
            <a:r>
              <a:rPr lang="en-US" sz="1150" dirty="0">
                <a:solidFill>
                  <a:srgbClr val="9BA1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insights &amp; integrations</a:t>
            </a:r>
            <a:endParaRPr lang="en-US" sz="1150" dirty="0"/>
          </a:p>
          <a:p>
            <a:pPr marL="203200" indent="-203200">
              <a:lnSpc>
                <a:spcPts val="1472"/>
              </a:lnSpc>
              <a:spcAft>
                <a:spcPts val="80"/>
              </a:spcAft>
              <a:buSzPct val="100000"/>
              <a:buChar char="▪"/>
            </a:pPr>
            <a:r>
              <a:rPr lang="en-US" sz="1150" dirty="0">
                <a:solidFill>
                  <a:srgbClr val="9BA1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cloud sync</a:t>
            </a:r>
            <a:endParaRPr lang="en-US" sz="1150" dirty="0"/>
          </a:p>
          <a:p>
            <a:pPr marL="203200" indent="-203200">
              <a:lnSpc>
                <a:spcPts val="1472"/>
              </a:lnSpc>
              <a:spcAft>
                <a:spcPts val="80"/>
              </a:spcAft>
              <a:buSzPct val="100000"/>
              <a:buChar char="▪"/>
            </a:pPr>
            <a:r>
              <a:rPr lang="en-US" sz="1150" dirty="0">
                <a:solidFill>
                  <a:srgbClr val="9BA1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reports &amp; history</a:t>
            </a:r>
            <a:endParaRPr lang="en-US" sz="1150" dirty="0"/>
          </a:p>
          <a:p>
            <a:pPr marL="203200" indent="-203200">
              <a:lnSpc>
                <a:spcPts val="1472"/>
              </a:lnSpc>
              <a:spcAft>
                <a:spcPts val="80"/>
              </a:spcAft>
              <a:buSzPct val="100000"/>
              <a:buChar char="▪"/>
            </a:pPr>
            <a:r>
              <a:rPr lang="en-US" sz="1150" dirty="0">
                <a:solidFill>
                  <a:srgbClr val="9BA1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Individual revenue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115605" y="1783080"/>
            <a:ext cx="3417722" cy="3200400"/>
          </a:xfrm>
          <a:prstGeom prst="roundRect">
            <a:avLst>
              <a:gd name="adj" fmla="val 3143"/>
            </a:avLst>
          </a:prstGeom>
          <a:solidFill>
            <a:srgbClr val="0F131A"/>
          </a:solidFill>
          <a:ln w="12700">
            <a:solidFill>
              <a:srgbClr val="5B8DEF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4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408213" y="2057400"/>
            <a:ext cx="286908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8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Pulse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408213" y="2441448"/>
            <a:ext cx="286908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seat</a:t>
            </a:r>
            <a:pPr indent="0" marL="0">
              <a:buNone/>
            </a:pPr>
            <a:endParaRPr lang="en-US" sz="3000" dirty="0"/>
          </a:p>
        </p:txBody>
      </p:sp>
      <p:sp>
        <p:nvSpPr>
          <p:cNvPr id="19" name="Shape 17"/>
          <p:cNvSpPr/>
          <p:nvPr/>
        </p:nvSpPr>
        <p:spPr>
          <a:xfrm>
            <a:off x="8408213" y="3154680"/>
            <a:ext cx="2832506" cy="0"/>
          </a:xfrm>
          <a:prstGeom prst="line">
            <a:avLst/>
          </a:prstGeom>
          <a:noFill/>
          <a:ln w="12700">
            <a:solidFill>
              <a:srgbClr val="242A3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08213" y="3319272"/>
            <a:ext cx="2832506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ts val="1472"/>
              </a:lnSpc>
              <a:spcAft>
                <a:spcPts val="80"/>
              </a:spcAft>
              <a:buSzPct val="100000"/>
              <a:buChar char="▪"/>
            </a:pPr>
            <a:r>
              <a:rPr lang="en-US" sz="1150" dirty="0">
                <a:solidFill>
                  <a:srgbClr val="9BA1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Org-wide planning &amp; tracking</a:t>
            </a:r>
            <a:endParaRPr lang="en-US" sz="1150" dirty="0"/>
          </a:p>
          <a:p>
            <a:pPr marL="203200" indent="-203200">
              <a:lnSpc>
                <a:spcPts val="1472"/>
              </a:lnSpc>
              <a:spcAft>
                <a:spcPts val="80"/>
              </a:spcAft>
              <a:buSzPct val="100000"/>
              <a:buChar char="▪"/>
            </a:pPr>
            <a:r>
              <a:rPr lang="en-US" sz="1150" dirty="0">
                <a:solidFill>
                  <a:srgbClr val="9BA1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Pulse AI for every level</a:t>
            </a:r>
            <a:endParaRPr lang="en-US" sz="1150" dirty="0"/>
          </a:p>
          <a:p>
            <a:pPr marL="203200" indent="-203200">
              <a:lnSpc>
                <a:spcPts val="1472"/>
              </a:lnSpc>
              <a:spcAft>
                <a:spcPts val="80"/>
              </a:spcAft>
              <a:buSzPct val="100000"/>
              <a:buChar char="▪"/>
            </a:pPr>
            <a:r>
              <a:rPr lang="en-US" sz="1150" dirty="0">
                <a:solidFill>
                  <a:srgbClr val="9BA1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Meeting-to-task automation</a:t>
            </a:r>
            <a:endParaRPr lang="en-US" sz="1150" dirty="0"/>
          </a:p>
          <a:p>
            <a:pPr marL="203200" indent="-203200">
              <a:lnSpc>
                <a:spcPts val="1472"/>
              </a:lnSpc>
              <a:spcAft>
                <a:spcPts val="80"/>
              </a:spcAft>
              <a:buSzPct val="100000"/>
              <a:buChar char="▪"/>
            </a:pPr>
            <a:r>
              <a:rPr lang="en-US" sz="1150" dirty="0">
                <a:solidFill>
                  <a:srgbClr val="9BA1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Highest ACV, expansion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58368" y="5239512"/>
            <a:ext cx="10874959" cy="822960"/>
          </a:xfrm>
          <a:prstGeom prst="roundRect">
            <a:avLst>
              <a:gd name="adj" fmla="val 12222"/>
            </a:avLst>
          </a:prstGeom>
          <a:solidFill>
            <a:srgbClr val="141A24"/>
          </a:solidFill>
          <a:ln w="12700">
            <a:solidFill>
              <a:srgbClr val="333B4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4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1115568" y="5349240"/>
            <a:ext cx="23072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6F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~90%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115568" y="5660136"/>
            <a:ext cx="23072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GROSS MARGIN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605708" y="5349240"/>
            <a:ext cx="23072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6F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3605708" y="5660136"/>
            <a:ext cx="23072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 · CONTENT-LED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095848" y="5349240"/>
            <a:ext cx="23072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6F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Land→Expand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095848" y="5660136"/>
            <a:ext cx="23072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MOTION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8585987" y="5349240"/>
            <a:ext cx="23072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6F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Pulse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585987" y="5660136"/>
            <a:ext cx="23072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ACV MULTIPLIER</a:t>
            </a:r>
            <a:endParaRPr lang="en-US" sz="950" dirty="0"/>
          </a:p>
        </p:txBody>
      </p:sp>
    </p:spTree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57200"/>
            <a:ext cx="10874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6F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GO-TO-MARKET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Quoril</a:t>
            </a:r>
            <a:pPr algn="l" indent="0" marL="0">
              <a:buNone/>
            </a:pPr>
            <a:r>
              <a:rPr lang="en-US" sz="1200" b="1" dirty="0">
                <a:solidFill>
                  <a:srgbClr val="C6F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911535" y="635508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58368" y="768096"/>
            <a:ext cx="1087495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35"/>
              </a:lnSpc>
              <a:buNone/>
            </a:pPr>
            <a:r>
              <a:rPr lang="en-US" sz="2700" b="1" dirty="0">
                <a:solidFill>
                  <a:srgbClr val="F4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Product-led growth, powered by the deep-work community.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58368" y="1783080"/>
            <a:ext cx="3417722" cy="2514600"/>
          </a:xfrm>
          <a:prstGeom prst="roundRect">
            <a:avLst>
              <a:gd name="adj" fmla="val 4000"/>
            </a:avLst>
          </a:prstGeom>
          <a:solidFill>
            <a:srgbClr val="0F131A"/>
          </a:solidFill>
          <a:ln w="12700">
            <a:solidFill>
              <a:srgbClr val="242A35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4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32688" y="2039112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6F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362858" y="2020824"/>
            <a:ext cx="438912" cy="438912"/>
          </a:xfrm>
          <a:prstGeom prst="roundRect">
            <a:avLst>
              <a:gd name="adj" fmla="val 18750"/>
            </a:avLst>
          </a:prstGeom>
          <a:solidFill>
            <a:srgbClr val="C6F24D">
              <a:alpha val="16000"/>
            </a:srgbClr>
          </a:solidFill>
          <a:ln w="12700">
            <a:solidFill>
              <a:srgbClr val="C6F24D">
                <a:alpha val="45000"/>
              </a:srgbClr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4532" y="2152498"/>
            <a:ext cx="175565" cy="175565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32688" y="2404872"/>
            <a:ext cx="286908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Acquire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932688" y="2880360"/>
            <a:ext cx="286908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10"/>
              </a:lnSpc>
              <a:buNone/>
            </a:pPr>
            <a:r>
              <a:rPr lang="en-US" sz="1150" dirty="0">
                <a:solidFill>
                  <a:srgbClr val="9BA1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&amp; SEO on focus, Pomodoro &amp; digital minimalism. Launch on Product Hunt, Reddit &amp; X where the deep-work audience already lives.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386986" y="1783080"/>
            <a:ext cx="3417722" cy="2514600"/>
          </a:xfrm>
          <a:prstGeom prst="roundRect">
            <a:avLst>
              <a:gd name="adj" fmla="val 4000"/>
            </a:avLst>
          </a:prstGeom>
          <a:solidFill>
            <a:srgbClr val="0F131A"/>
          </a:solidFill>
          <a:ln w="12700">
            <a:solidFill>
              <a:srgbClr val="242A35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4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4661306" y="2039112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8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7091477" y="2020824"/>
            <a:ext cx="438912" cy="438912"/>
          </a:xfrm>
          <a:prstGeom prst="roundRect">
            <a:avLst>
              <a:gd name="adj" fmla="val 18750"/>
            </a:avLst>
          </a:prstGeom>
          <a:solidFill>
            <a:srgbClr val="5B8DEF">
              <a:alpha val="16000"/>
            </a:srgbClr>
          </a:solidFill>
          <a:ln w="12700">
            <a:solidFill>
              <a:srgbClr val="5B8DEF">
                <a:alpha val="45000"/>
              </a:srgbClr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150" y="2152498"/>
            <a:ext cx="175565" cy="175565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661306" y="2404872"/>
            <a:ext cx="286908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4661306" y="2880360"/>
            <a:ext cx="286908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10"/>
              </a:lnSpc>
              <a:buNone/>
            </a:pPr>
            <a:r>
              <a:rPr lang="en-US" sz="1150" dirty="0">
                <a:solidFill>
                  <a:srgbClr val="9BA1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genuinely useful free app builds the daily habit. AI insights, sync &amp; integrations are the natural upgrade to Pro.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8115605" y="1783080"/>
            <a:ext cx="3417722" cy="2514600"/>
          </a:xfrm>
          <a:prstGeom prst="roundRect">
            <a:avLst>
              <a:gd name="adj" fmla="val 4000"/>
            </a:avLst>
          </a:prstGeom>
          <a:solidFill>
            <a:srgbClr val="0F131A"/>
          </a:solidFill>
          <a:ln w="12700">
            <a:solidFill>
              <a:srgbClr val="242A35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4000"/>
              </a:srgbClr>
            </a:outerShdw>
          </a:effectLst>
        </p:spPr>
      </p:sp>
      <p:sp>
        <p:nvSpPr>
          <p:cNvPr id="19" name="Text 15"/>
          <p:cNvSpPr/>
          <p:nvPr/>
        </p:nvSpPr>
        <p:spPr>
          <a:xfrm>
            <a:off x="8389925" y="2039112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500" dirty="0"/>
          </a:p>
        </p:txBody>
      </p:sp>
      <p:sp>
        <p:nvSpPr>
          <p:cNvPr id="20" name="Shape 16"/>
          <p:cNvSpPr/>
          <p:nvPr/>
        </p:nvSpPr>
        <p:spPr>
          <a:xfrm>
            <a:off x="10820095" y="2020824"/>
            <a:ext cx="438912" cy="438912"/>
          </a:xfrm>
          <a:prstGeom prst="roundRect">
            <a:avLst>
              <a:gd name="adj" fmla="val 18750"/>
            </a:avLst>
          </a:prstGeom>
          <a:solidFill>
            <a:srgbClr val="F5A623">
              <a:alpha val="16000"/>
            </a:srgbClr>
          </a:solidFill>
          <a:ln w="12700">
            <a:solidFill>
              <a:srgbClr val="F5A623">
                <a:alpha val="45000"/>
              </a:srgbClr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51769" y="2152498"/>
            <a:ext cx="175565" cy="175565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389925" y="2404872"/>
            <a:ext cx="286908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Expand</a:t>
            </a:r>
            <a:endParaRPr lang="en-US" sz="1800" dirty="0"/>
          </a:p>
        </p:txBody>
      </p:sp>
      <p:sp>
        <p:nvSpPr>
          <p:cNvPr id="23" name="Text 18"/>
          <p:cNvSpPr/>
          <p:nvPr/>
        </p:nvSpPr>
        <p:spPr>
          <a:xfrm>
            <a:off x="8389925" y="2880360"/>
            <a:ext cx="286908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10"/>
              </a:lnSpc>
              <a:buNone/>
            </a:pPr>
            <a:r>
              <a:rPr lang="en-US" sz="1150" dirty="0">
                <a:solidFill>
                  <a:srgbClr val="9BA1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Bottom-up adoption seeds companies. One team's shared canvas becomes the wedge for org-wide Quoril Pulse.</a:t>
            </a:r>
            <a:endParaRPr lang="en-US" sz="1150" dirty="0"/>
          </a:p>
        </p:txBody>
      </p:sp>
      <p:sp>
        <p:nvSpPr>
          <p:cNvPr id="24" name="Shape 19"/>
          <p:cNvSpPr/>
          <p:nvPr/>
        </p:nvSpPr>
        <p:spPr>
          <a:xfrm>
            <a:off x="658368" y="4572000"/>
            <a:ext cx="10874959" cy="1051560"/>
          </a:xfrm>
          <a:prstGeom prst="roundRect">
            <a:avLst>
              <a:gd name="adj" fmla="val 9565"/>
            </a:avLst>
          </a:prstGeom>
          <a:solidFill>
            <a:srgbClr val="141A24"/>
          </a:solidFill>
          <a:ln w="12700">
            <a:solidFill>
              <a:srgbClr val="333B4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4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978408" y="4864608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C6F24D">
              <a:alpha val="16000"/>
            </a:srgbClr>
          </a:solidFill>
          <a:ln w="12700">
            <a:solidFill>
              <a:srgbClr val="C6F24D">
                <a:alpha val="45000"/>
              </a:srgbClr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5568" y="5001768"/>
            <a:ext cx="182880" cy="18288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618488" y="4572000"/>
            <a:ext cx="9594799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F4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waitlist is already compounding a launch-day audience.  </a:t>
            </a:r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9BA1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warm, owned channel — plus community &amp; referral loops — before a dollar of paid spend.</a:t>
            </a:r>
            <a:endParaRPr lang="en-US" sz="1400" dirty="0"/>
          </a:p>
        </p:txBody>
      </p:sp>
    </p:spTree>
  </p:cSld>
  <p:clrMapOvr>
    <a:masterClrMapping/>
  </p:clrMapOvr>
  <p:transition spd="med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57200"/>
            <a:ext cx="10874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6F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&amp; TRACTION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Quoril</a:t>
            </a:r>
            <a:pPr algn="l" indent="0" marL="0">
              <a:buNone/>
            </a:pPr>
            <a:r>
              <a:rPr lang="en-US" sz="1200" b="1" dirty="0">
                <a:solidFill>
                  <a:srgbClr val="C6F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911535" y="635508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58368" y="768096"/>
            <a:ext cx="1087495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940"/>
              </a:lnSpc>
              <a:buNone/>
            </a:pPr>
            <a:r>
              <a:rPr lang="en-US" sz="2800" b="1" dirty="0">
                <a:solidFill>
                  <a:srgbClr val="F4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product is built. We're at the starting line.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58368" y="1783080"/>
            <a:ext cx="2513000" cy="1371600"/>
          </a:xfrm>
          <a:prstGeom prst="roundRect">
            <a:avLst>
              <a:gd name="adj" fmla="val 7333"/>
            </a:avLst>
          </a:prstGeom>
          <a:solidFill>
            <a:srgbClr val="0F131A"/>
          </a:solidFill>
          <a:ln w="12700">
            <a:solidFill>
              <a:srgbClr val="242A35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4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32688" y="2011680"/>
            <a:ext cx="196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6F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v1.0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932688" y="2624328"/>
            <a:ext cx="196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b="1" spc="6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SHIPPING BUILD, ALL 3 OSES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445688" y="1783080"/>
            <a:ext cx="2513000" cy="1371600"/>
          </a:xfrm>
          <a:prstGeom prst="roundRect">
            <a:avLst>
              <a:gd name="adj" fmla="val 7333"/>
            </a:avLst>
          </a:prstGeom>
          <a:solidFill>
            <a:srgbClr val="0F131A"/>
          </a:solidFill>
          <a:ln w="12700">
            <a:solidFill>
              <a:srgbClr val="242A35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720008" y="2011680"/>
            <a:ext cx="196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6F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720008" y="2624328"/>
            <a:ext cx="196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b="1" spc="6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PLATFORMS · WIN · MACOS · LINUX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233008" y="1783080"/>
            <a:ext cx="2513000" cy="1371600"/>
          </a:xfrm>
          <a:prstGeom prst="roundRect">
            <a:avLst>
              <a:gd name="adj" fmla="val 7333"/>
            </a:avLst>
          </a:prstGeom>
          <a:solidFill>
            <a:srgbClr val="0F131A"/>
          </a:solidFill>
          <a:ln w="12700">
            <a:solidFill>
              <a:srgbClr val="242A35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507328" y="2011680"/>
            <a:ext cx="196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6F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40+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507328" y="2624328"/>
            <a:ext cx="196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b="1" spc="6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 ACROSS THE LOOP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9020327" y="1783080"/>
            <a:ext cx="2513000" cy="1371600"/>
          </a:xfrm>
          <a:prstGeom prst="roundRect">
            <a:avLst>
              <a:gd name="adj" fmla="val 7333"/>
            </a:avLst>
          </a:prstGeom>
          <a:solidFill>
            <a:srgbClr val="0F131A"/>
          </a:solidFill>
          <a:ln w="12700">
            <a:solidFill>
              <a:srgbClr val="242A35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4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294647" y="2011680"/>
            <a:ext cx="196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6F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9294647" y="2624328"/>
            <a:ext cx="196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b="1" spc="6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WAITLIST &amp; LANDING SITE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58368" y="3465576"/>
            <a:ext cx="5282032" cy="2286000"/>
          </a:xfrm>
          <a:prstGeom prst="roundRect">
            <a:avLst>
              <a:gd name="adj" fmla="val 4400"/>
            </a:avLst>
          </a:prstGeom>
          <a:solidFill>
            <a:srgbClr val="0F131A"/>
          </a:solidFill>
          <a:ln w="12700">
            <a:solidFill>
              <a:srgbClr val="242A35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4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78408" y="3721608"/>
            <a:ext cx="464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Already de-risked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78408" y="4242816"/>
            <a:ext cx="4641952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ts val="1600"/>
              </a:lnSpc>
              <a:spcAft>
                <a:spcPts val="90"/>
              </a:spcAft>
              <a:buSzPct val="100000"/>
              <a:buChar char="▪"/>
            </a:pPr>
            <a:r>
              <a:rPr lang="en-US" sz="1250" dirty="0">
                <a:solidFill>
                  <a:srgbClr val="9BA1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offline-first sync engine, end-to-end</a:t>
            </a:r>
            <a:endParaRPr lang="en-US" sz="1250" dirty="0"/>
          </a:p>
          <a:p>
            <a:pPr marL="203200" indent="-203200">
              <a:lnSpc>
                <a:spcPts val="1600"/>
              </a:lnSpc>
              <a:spcAft>
                <a:spcPts val="90"/>
              </a:spcAft>
              <a:buSzPct val="100000"/>
              <a:buChar char="▪"/>
            </a:pPr>
            <a:r>
              <a:rPr lang="en-US" sz="1250" dirty="0">
                <a:solidFill>
                  <a:srgbClr val="9BA1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tracking live on Windows &amp; macOS</a:t>
            </a:r>
            <a:endParaRPr lang="en-US" sz="1250" dirty="0"/>
          </a:p>
          <a:p>
            <a:pPr marL="203200" indent="-203200">
              <a:lnSpc>
                <a:spcPts val="1600"/>
              </a:lnSpc>
              <a:spcAft>
                <a:spcPts val="90"/>
              </a:spcAft>
              <a:buSzPct val="100000"/>
              <a:buChar char="▪"/>
            </a:pPr>
            <a:r>
              <a:rPr lang="en-US" sz="1250" dirty="0">
                <a:solidFill>
                  <a:srgbClr val="9BA1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Auth, cloud DB, canvas sharing &amp; 4 themes complete</a:t>
            </a:r>
            <a:endParaRPr lang="en-US" sz="1250" dirty="0"/>
          </a:p>
          <a:p>
            <a:pPr marL="203200" indent="-203200">
              <a:lnSpc>
                <a:spcPts val="1600"/>
              </a:lnSpc>
              <a:spcAft>
                <a:spcPts val="90"/>
              </a:spcAft>
              <a:buSzPct val="100000"/>
              <a:buChar char="▪"/>
            </a:pPr>
            <a:r>
              <a:rPr lang="en-US" sz="1250" dirty="0">
                <a:solidFill>
                  <a:srgbClr val="9BA1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Pulse AI architecture designed on the same data model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251296" y="3465576"/>
            <a:ext cx="5282032" cy="2286000"/>
          </a:xfrm>
          <a:prstGeom prst="roundRect">
            <a:avLst>
              <a:gd name="adj" fmla="val 4400"/>
            </a:avLst>
          </a:prstGeom>
          <a:solidFill>
            <a:srgbClr val="141A24"/>
          </a:solidFill>
          <a:ln w="12700">
            <a:solidFill>
              <a:srgbClr val="333B4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4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571336" y="3721608"/>
            <a:ext cx="464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6 months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571336" y="4242816"/>
            <a:ext cx="4641952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ts val="1600"/>
              </a:lnSpc>
              <a:spcAft>
                <a:spcPts val="90"/>
              </a:spcAft>
              <a:buSzPct val="100000"/>
              <a:buChar char="▪"/>
            </a:pPr>
            <a:r>
              <a:rPr lang="en-US" sz="1250" dirty="0">
                <a:solidFill>
                  <a:srgbClr val="9BA1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launch &amp; convert the waitlist</a:t>
            </a:r>
            <a:endParaRPr lang="en-US" sz="1250" dirty="0"/>
          </a:p>
          <a:p>
            <a:pPr marL="203200" indent="-203200">
              <a:lnSpc>
                <a:spcPts val="1600"/>
              </a:lnSpc>
              <a:spcAft>
                <a:spcPts val="90"/>
              </a:spcAft>
              <a:buSzPct val="100000"/>
              <a:buChar char="▪"/>
            </a:pPr>
            <a:r>
              <a:rPr lang="en-US" sz="1250" dirty="0">
                <a:solidFill>
                  <a:srgbClr val="9BA1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 V2 AI features behind the paywall</a:t>
            </a:r>
            <a:endParaRPr lang="en-US" sz="1250" dirty="0"/>
          </a:p>
          <a:p>
            <a:pPr marL="203200" indent="-203200">
              <a:lnSpc>
                <a:spcPts val="1600"/>
              </a:lnSpc>
              <a:spcAft>
                <a:spcPts val="90"/>
              </a:spcAft>
              <a:buSzPct val="100000"/>
              <a:buChar char="▪"/>
            </a:pPr>
            <a:r>
              <a:rPr lang="en-US" sz="1250" dirty="0">
                <a:solidFill>
                  <a:srgbClr val="9BA1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Instrument activation &amp; free→Pro conversion</a:t>
            </a:r>
            <a:endParaRPr lang="en-US" sz="1250" dirty="0"/>
          </a:p>
          <a:p>
            <a:pPr marL="203200" indent="-203200">
              <a:lnSpc>
                <a:spcPts val="1600"/>
              </a:lnSpc>
              <a:spcAft>
                <a:spcPts val="90"/>
              </a:spcAft>
              <a:buSzPct val="100000"/>
              <a:buChar char="▪"/>
            </a:pPr>
            <a:r>
              <a:rPr lang="en-US" sz="1250" dirty="0">
                <a:solidFill>
                  <a:srgbClr val="9BA1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Quoril Pulse with 2–3 design-partner teams</a:t>
            </a:r>
            <a:endParaRPr lang="en-US" sz="1250" dirty="0"/>
          </a:p>
        </p:txBody>
      </p:sp>
    </p:spTree>
  </p:cSld>
  <p:clrMapOvr>
    <a:masterClrMapping/>
  </p:clrMapOvr>
  <p:transition spd="med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57200"/>
            <a:ext cx="10874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6F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Quoril</a:t>
            </a:r>
            <a:pPr algn="l" indent="0" marL="0">
              <a:buNone/>
            </a:pPr>
            <a:r>
              <a:rPr lang="en-US" sz="1200" b="1" dirty="0">
                <a:solidFill>
                  <a:srgbClr val="C6F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911535" y="635508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58368" y="768096"/>
            <a:ext cx="1087495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940"/>
              </a:lnSpc>
              <a:buNone/>
            </a:pPr>
            <a:r>
              <a:rPr lang="en-US" sz="2800" b="1" dirty="0">
                <a:solidFill>
                  <a:srgbClr val="F4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technical founder who ships.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58368" y="1783080"/>
            <a:ext cx="3291840" cy="4023360"/>
          </a:xfrm>
          <a:prstGeom prst="roundRect">
            <a:avLst>
              <a:gd name="adj" fmla="val 3056"/>
            </a:avLst>
          </a:prstGeom>
          <a:solidFill>
            <a:srgbClr val="141A24"/>
          </a:solidFill>
          <a:ln w="12700">
            <a:solidFill>
              <a:srgbClr val="333B4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618488" y="2286000"/>
            <a:ext cx="1371600" cy="1371600"/>
          </a:xfrm>
          <a:prstGeom prst="ellipse">
            <a:avLst/>
          </a:prstGeom>
          <a:solidFill>
            <a:srgbClr val="C6F24D"/>
          </a:solidFill>
          <a:ln/>
        </p:spPr>
      </p:sp>
      <p:sp>
        <p:nvSpPr>
          <p:cNvPr id="8" name="Text 6"/>
          <p:cNvSpPr/>
          <p:nvPr/>
        </p:nvSpPr>
        <p:spPr>
          <a:xfrm>
            <a:off x="1618488" y="228600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B0D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658368" y="38404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4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Erik Vale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58368" y="43434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C6F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 &amp; ENGINEER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58368" y="48006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BA1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Full-stack · systems · product design · cloud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261104" y="1783080"/>
            <a:ext cx="7272223" cy="4023360"/>
          </a:xfrm>
          <a:prstGeom prst="roundRect">
            <a:avLst>
              <a:gd name="adj" fmla="val 2500"/>
            </a:avLst>
          </a:prstGeom>
          <a:solidFill>
            <a:srgbClr val="0F131A"/>
          </a:solidFill>
          <a:ln w="12700">
            <a:solidFill>
              <a:srgbClr val="242A35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26864" y="2194560"/>
            <a:ext cx="6540703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ts val="1728"/>
              </a:lnSpc>
              <a:spcAft>
                <a:spcPts val="140"/>
              </a:spcAft>
              <a:buSzPct val="100000"/>
              <a:buChar char="▪"/>
            </a:pPr>
            <a:r>
              <a:rPr lang="en-US" sz="1350" dirty="0">
                <a:solidFill>
                  <a:srgbClr val="9BA1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Designed and shipped Quoril end-to-end: Electron desktop app, native OS tracking, and an offline-first SQLite↔Supabase sync engine.</a:t>
            </a:r>
            <a:endParaRPr lang="en-US" sz="1350" dirty="0"/>
          </a:p>
          <a:p>
            <a:pPr marL="203200" indent="-203200">
              <a:lnSpc>
                <a:spcPts val="1728"/>
              </a:lnSpc>
              <a:spcAft>
                <a:spcPts val="140"/>
              </a:spcAft>
              <a:buSzPct val="100000"/>
              <a:buChar char="▪"/>
            </a:pPr>
            <a:r>
              <a:rPr lang="en-US" sz="1350" dirty="0">
                <a:solidFill>
                  <a:srgbClr val="9BA1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a polished, multi-theme React UI with a spatial canvas, collaboration, and a full analytics &amp; insights layer.</a:t>
            </a:r>
            <a:endParaRPr lang="en-US" sz="1350" dirty="0"/>
          </a:p>
          <a:p>
            <a:pPr marL="203200" indent="-203200">
              <a:lnSpc>
                <a:spcPts val="1728"/>
              </a:lnSpc>
              <a:spcAft>
                <a:spcPts val="140"/>
              </a:spcAft>
              <a:buSzPct val="100000"/>
              <a:buChar char="▪"/>
            </a:pPr>
            <a:r>
              <a:rPr lang="en-US" sz="1350" dirty="0">
                <a:solidFill>
                  <a:srgbClr val="9BA1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Architected Pulse AI on the same real-time data model — the org layer is a natural extension, not a rewrite.</a:t>
            </a:r>
            <a:endParaRPr lang="en-US" sz="1350" dirty="0"/>
          </a:p>
          <a:p>
            <a:pPr marL="203200" indent="-203200">
              <a:lnSpc>
                <a:spcPts val="1728"/>
              </a:lnSpc>
              <a:spcAft>
                <a:spcPts val="140"/>
              </a:spcAft>
              <a:buSzPct val="100000"/>
              <a:buChar char="▪"/>
            </a:pPr>
            <a:r>
              <a:rPr lang="en-US" sz="1350" dirty="0">
                <a:solidFill>
                  <a:srgbClr val="9BA1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Capital-efficient: a complete, cross-platform v1.0 built solo before raising a dollar.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4626864" y="4983480"/>
            <a:ext cx="6540703" cy="0"/>
          </a:xfrm>
          <a:prstGeom prst="line">
            <a:avLst/>
          </a:prstGeom>
          <a:noFill/>
          <a:ln w="12700">
            <a:solidFill>
              <a:srgbClr val="242A3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26864" y="5120640"/>
            <a:ext cx="654070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i="1" dirty="0">
                <a:solidFill>
                  <a:srgbClr val="9BA1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Hiring post-raise: early design &amp; growth to accelerate launch and stand up the first Pulse pilots.</a:t>
            </a:r>
            <a:endParaRPr lang="en-US" sz="1250" dirty="0"/>
          </a:p>
        </p:txBody>
      </p:sp>
    </p:spTree>
  </p:cSld>
  <p:clrMapOvr>
    <a:masterClrMapping/>
  </p:clrMapOvr>
  <p:transition spd="med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57200"/>
            <a:ext cx="10874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6F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ASK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Quoril</a:t>
            </a:r>
            <a:pPr algn="l" indent="0" marL="0">
              <a:buNone/>
            </a:pPr>
            <a:r>
              <a:rPr lang="en-US" sz="1200" b="1" dirty="0">
                <a:solidFill>
                  <a:srgbClr val="C6F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911535" y="635508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58368" y="1234440"/>
            <a:ext cx="1087495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F4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Raising a seed round to launch, monetize, and prove Pulse.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58368" y="2514600"/>
            <a:ext cx="3417722" cy="1965960"/>
          </a:xfrm>
          <a:prstGeom prst="roundRect">
            <a:avLst>
              <a:gd name="adj" fmla="val 5116"/>
            </a:avLst>
          </a:prstGeom>
          <a:solidFill>
            <a:srgbClr val="0F131A"/>
          </a:solidFill>
          <a:ln w="12700">
            <a:solidFill>
              <a:srgbClr val="C6F24D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4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50976" y="2770632"/>
            <a:ext cx="28690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RAISING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50976" y="3063240"/>
            <a:ext cx="286908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6F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$1.5M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950976" y="3840480"/>
            <a:ext cx="286908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A1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Seed · ~18-month runway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86986" y="2514600"/>
            <a:ext cx="3417722" cy="1965960"/>
          </a:xfrm>
          <a:prstGeom prst="roundRect">
            <a:avLst>
              <a:gd name="adj" fmla="val 5116"/>
            </a:avLst>
          </a:prstGeom>
          <a:solidFill>
            <a:srgbClr val="0F131A"/>
          </a:solidFill>
          <a:ln w="12700">
            <a:solidFill>
              <a:srgbClr val="242A35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79594" y="2770632"/>
            <a:ext cx="28690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OF FUNDS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679594" y="3154680"/>
            <a:ext cx="2832506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ts val="1600"/>
              </a:lnSpc>
              <a:spcAft>
                <a:spcPts val="140"/>
              </a:spcAft>
              <a:buSzPct val="100000"/>
              <a:buChar char="▪"/>
            </a:pPr>
            <a:r>
              <a:rPr lang="en-US" sz="1250" dirty="0">
                <a:solidFill>
                  <a:srgbClr val="9BA1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45% · Engineering &amp; Pulse AI</a:t>
            </a:r>
            <a:endParaRPr lang="en-US" sz="1250" dirty="0"/>
          </a:p>
          <a:p>
            <a:pPr marL="203200" indent="-203200">
              <a:lnSpc>
                <a:spcPts val="1600"/>
              </a:lnSpc>
              <a:spcAft>
                <a:spcPts val="140"/>
              </a:spcAft>
              <a:buSzPct val="100000"/>
              <a:buChar char="▪"/>
            </a:pPr>
            <a:r>
              <a:rPr lang="en-US" sz="1250" dirty="0">
                <a:solidFill>
                  <a:srgbClr val="9BA1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35% · Growth &amp; launch</a:t>
            </a:r>
            <a:endParaRPr lang="en-US" sz="1250" dirty="0"/>
          </a:p>
          <a:p>
            <a:pPr marL="203200" indent="-203200">
              <a:lnSpc>
                <a:spcPts val="1600"/>
              </a:lnSpc>
              <a:spcAft>
                <a:spcPts val="140"/>
              </a:spcAft>
              <a:buSzPct val="100000"/>
              <a:buChar char="▪"/>
            </a:pPr>
            <a:r>
              <a:rPr lang="en-US" sz="1250" dirty="0">
                <a:solidFill>
                  <a:srgbClr val="9BA1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 · Ops &amp; infrastructure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115605" y="2514600"/>
            <a:ext cx="3417722" cy="1965960"/>
          </a:xfrm>
          <a:prstGeom prst="roundRect">
            <a:avLst>
              <a:gd name="adj" fmla="val 5116"/>
            </a:avLst>
          </a:prstGeom>
          <a:solidFill>
            <a:srgbClr val="0F131A"/>
          </a:solidFill>
          <a:ln w="12700">
            <a:solidFill>
              <a:srgbClr val="242A35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408213" y="2770632"/>
            <a:ext cx="28690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MILESTONES TO SERIES A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408213" y="3154680"/>
            <a:ext cx="2832506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ts val="1600"/>
              </a:lnSpc>
              <a:spcAft>
                <a:spcPts val="140"/>
              </a:spcAft>
              <a:buSzPct val="100000"/>
              <a:buChar char="▪"/>
            </a:pPr>
            <a:r>
              <a:rPr lang="en-US" sz="1250" dirty="0">
                <a:solidFill>
                  <a:srgbClr val="9BA1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launch &amp; V2 live</a:t>
            </a:r>
            <a:endParaRPr lang="en-US" sz="1250" dirty="0"/>
          </a:p>
          <a:p>
            <a:pPr marL="203200" indent="-203200">
              <a:lnSpc>
                <a:spcPts val="1600"/>
              </a:lnSpc>
              <a:spcAft>
                <a:spcPts val="140"/>
              </a:spcAft>
              <a:buSzPct val="100000"/>
              <a:buChar char="▪"/>
            </a:pPr>
            <a:r>
              <a:rPr lang="en-US" sz="1250" dirty="0">
                <a:solidFill>
                  <a:srgbClr val="9BA1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 free→Pro conversion</a:t>
            </a:r>
            <a:endParaRPr lang="en-US" sz="1250" dirty="0"/>
          </a:p>
          <a:p>
            <a:pPr marL="203200" indent="-203200">
              <a:lnSpc>
                <a:spcPts val="1600"/>
              </a:lnSpc>
              <a:spcAft>
                <a:spcPts val="140"/>
              </a:spcAft>
              <a:buSzPct val="100000"/>
              <a:buChar char="▪"/>
            </a:pPr>
            <a:r>
              <a:rPr lang="en-US" sz="1250" dirty="0">
                <a:solidFill>
                  <a:srgbClr val="9BA1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2–3 Pulse pilots signed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58368" y="4800600"/>
            <a:ext cx="1087495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4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Let's give deep work — and every organization — an operating system.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58368" y="5349240"/>
            <a:ext cx="108749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BA1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Erik Vale   ·   </a:t>
            </a:r>
            <a:pPr algn="ctr" indent="0" marL="0">
              <a:buNone/>
            </a:pPr>
            <a:r>
              <a:rPr lang="en-US" sz="1400" b="1" dirty="0">
                <a:solidFill>
                  <a:srgbClr val="C6F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hello@quoril.com</a:t>
            </a:r>
            <a:endParaRPr lang="en-US" sz="1400" dirty="0"/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Quoril — Investor Deck</dc:title>
  <dc:subject>PptxGenJS Presentation</dc:subject>
  <dc:creator>Quoril</dc:creator>
  <cp:lastModifiedBy>Quoril</cp:lastModifiedBy>
  <cp:revision>1</cp:revision>
  <dcterms:created xsi:type="dcterms:W3CDTF">2026-07-06T07:35:13Z</dcterms:created>
  <dcterms:modified xsi:type="dcterms:W3CDTF">2026-07-06T07:35:13Z</dcterms:modified>
</cp:coreProperties>
</file>